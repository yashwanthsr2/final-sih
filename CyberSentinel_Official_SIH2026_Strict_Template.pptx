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02C57"/>
                </a:solidFill>
                <a:latin typeface="Georgia"/>
              </a:defRPr>
            </a:pPr>
            <a:r>
              <a:t>SMART INDIA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E293B"/>
                </a:solidFill>
                <a:latin typeface="Georgia"/>
              </a:defRPr>
            </a:pPr>
            <a:r>
              <a:t>TITLE PAGE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73152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spcAft>
                <a:spcPts val="800"/>
              </a:spcAft>
            </a:pPr>
            <a:r>
              <a:rPr b="1" sz="1550">
                <a:solidFill>
                  <a:srgbClr val="1E293B"/>
                </a:solidFill>
              </a:rPr>
              <a:t>•  Problem Statement ID – </a:t>
            </a:r>
            <a:r>
              <a:rPr b="1" sz="1550">
                <a:solidFill>
                  <a:srgbClr val="0284C7"/>
                </a:solidFill>
              </a:rPr>
              <a:t>SIH26-26145</a:t>
            </a:r>
          </a:p>
          <a:p>
            <a:pPr>
              <a:spcAft>
                <a:spcPts val="800"/>
              </a:spcAft>
            </a:pPr>
            <a:r>
              <a:rPr b="1" sz="1550">
                <a:solidFill>
                  <a:srgbClr val="1E293B"/>
                </a:solidFill>
              </a:rPr>
              <a:t>•  Problem Statement Title – </a:t>
            </a:r>
            <a:r>
              <a:rPr b="0" sz="1550">
                <a:solidFill>
                  <a:srgbClr val="1E293B"/>
                </a:solidFill>
              </a:rPr>
              <a:t>AI-Based Detection of Cyber Threats in Unidirectional IP Traffic</a:t>
            </a:r>
          </a:p>
          <a:p>
            <a:pPr>
              <a:spcAft>
                <a:spcPts val="800"/>
              </a:spcAft>
            </a:pPr>
            <a:r>
              <a:rPr b="1" sz="1550">
                <a:solidFill>
                  <a:srgbClr val="1E293B"/>
                </a:solidFill>
              </a:rPr>
              <a:t>•  Theme – </a:t>
            </a:r>
            <a:r>
              <a:rPr b="0" sz="1550">
                <a:solidFill>
                  <a:srgbClr val="1E293B"/>
                </a:solidFill>
              </a:rPr>
              <a:t>Blockchain &amp; Cybersecurity</a:t>
            </a:r>
          </a:p>
          <a:p>
            <a:pPr>
              <a:spcAft>
                <a:spcPts val="800"/>
              </a:spcAft>
            </a:pPr>
            <a:r>
              <a:rPr b="1" sz="1550">
                <a:solidFill>
                  <a:srgbClr val="1E293B"/>
                </a:solidFill>
              </a:rPr>
              <a:t>•  PS Category – </a:t>
            </a:r>
            <a:r>
              <a:rPr b="0" sz="1550">
                <a:solidFill>
                  <a:srgbClr val="1E293B"/>
                </a:solidFill>
              </a:rPr>
              <a:t>Software</a:t>
            </a:r>
          </a:p>
          <a:p>
            <a:pPr>
              <a:spcAft>
                <a:spcPts val="800"/>
              </a:spcAft>
            </a:pPr>
            <a:r>
              <a:rPr b="1" sz="1550">
                <a:solidFill>
                  <a:srgbClr val="1E293B"/>
                </a:solidFill>
              </a:rPr>
              <a:t>•  Team ID – </a:t>
            </a:r>
            <a:r>
              <a:rPr b="0" sz="1550">
                <a:solidFill>
                  <a:srgbClr val="1E293B"/>
                </a:solidFill>
              </a:rPr>
              <a:t>AMITY-2026-899F3DA7</a:t>
            </a:r>
          </a:p>
          <a:p>
            <a:pPr>
              <a:spcAft>
                <a:spcPts val="800"/>
              </a:spcAft>
            </a:pPr>
            <a:r>
              <a:rPr b="1" sz="1550">
                <a:solidFill>
                  <a:srgbClr val="1E293B"/>
                </a:solidFill>
              </a:rPr>
              <a:t>•  Team Name – </a:t>
            </a:r>
            <a:r>
              <a:rPr b="1" sz="1550">
                <a:solidFill>
                  <a:srgbClr val="0284C7"/>
                </a:solidFill>
              </a:rPr>
              <a:t>CODEZILLA</a:t>
            </a:r>
          </a:p>
          <a:p>
            <a:pPr>
              <a:spcAft>
                <a:spcPts val="800"/>
              </a:spcAft>
            </a:pPr>
            <a:r>
              <a:rPr b="1" sz="1550">
                <a:solidFill>
                  <a:srgbClr val="1E293B"/>
                </a:solidFill>
              </a:rPr>
              <a:t>•  Organization – </a:t>
            </a:r>
            <a:r>
              <a:rPr b="0" sz="1550">
                <a:solidFill>
                  <a:srgbClr val="1E293B"/>
                </a:solidFill>
              </a:rPr>
              <a:t>National Technical Research Organisation (NTRO)</a:t>
            </a:r>
          </a:p>
          <a:p>
            <a:pPr>
              <a:spcAft>
                <a:spcPts val="800"/>
              </a:spcAft>
            </a:pPr>
            <a:r>
              <a:rPr b="1" sz="1550">
                <a:solidFill>
                  <a:srgbClr val="1E293B"/>
                </a:solidFill>
              </a:rPr>
              <a:t>•  Solution Name – </a:t>
            </a:r>
            <a:r>
              <a:rPr b="1" sz="1550">
                <a:solidFill>
                  <a:srgbClr val="0284C7"/>
                </a:solidFill>
              </a:rPr>
              <a:t>CyberSentinel: Real-Time Passive Threat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0" y="1783080"/>
            <a:ext cx="310896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102C57"/>
                </a:solidFill>
              </a:defRPr>
            </a:pPr>
            <a:r>
              <a:t>CyberSentinel Core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284C7"/>
                </a:solidFill>
              </a:rPr>
              <a:t>✔ Passive Ingestion: </a:t>
            </a:r>
            <a:r>
              <a:rPr sz="950">
                <a:solidFill>
                  <a:srgbClr val="1E293B"/>
                </a:solidFill>
              </a:rPr>
              <a:t>100% Zero-TX Diode Tap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284C7"/>
                </a:solidFill>
              </a:rPr>
              <a:t>✔ Asymmetric Flow: </a:t>
            </a:r>
            <a:r>
              <a:rPr sz="950">
                <a:solidFill>
                  <a:srgbClr val="1E293B"/>
                </a:solidFill>
              </a:rPr>
              <a:t>Sub-ms Session Tracking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284C7"/>
                </a:solidFill>
              </a:rPr>
              <a:t>✔ Dual Engine: </a:t>
            </a:r>
            <a:r>
              <a:rPr sz="950">
                <a:solidFill>
                  <a:srgbClr val="1E293B"/>
                </a:solidFill>
              </a:rPr>
              <a:t>HistGB ML + 6 Detectors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284C7"/>
                </a:solidFill>
              </a:rPr>
              <a:t>✔ Explainable AI: </a:t>
            </a:r>
            <a:r>
              <a:rPr sz="950">
                <a:solidFill>
                  <a:srgbClr val="1E293B"/>
                </a:solidFill>
              </a:rPr>
              <a:t>IAT Variance &amp; Byte Entropy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284C7"/>
                </a:solidFill>
              </a:rPr>
              <a:t>✔ Attack Trajectory: </a:t>
            </a:r>
            <a:r>
              <a:rPr sz="950">
                <a:solidFill>
                  <a:srgbClr val="1E293B"/>
                </a:solidFill>
              </a:rPr>
              <a:t>DTMC Lateral Prediction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284C7"/>
                </a:solidFill>
              </a:rPr>
              <a:t>✔ Enterprise SOC: </a:t>
            </a:r>
            <a:r>
              <a:rPr sz="950">
                <a:solidFill>
                  <a:srgbClr val="1E293B"/>
                </a:solidFill>
              </a:rPr>
              <a:t>Real-Time 2026 Console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@SIH Idea submission- Template                                                                                           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28600"/>
            <a:ext cx="137160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A3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E293B"/>
                </a:solidFill>
              </a:defRPr>
            </a:pPr>
            <a:r>
              <a:t>CODEZILLA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228600"/>
            <a:ext cx="7589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A192F"/>
                </a:solidFill>
                <a:latin typeface="Georgia"/>
              </a:defRPr>
            </a:pPr>
            <a:r>
              <a:t>IDEA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13716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102C57"/>
                </a:solidFill>
              </a:defRPr>
            </a:pPr>
            <a:r>
              <a:t>SMART INDIA</a:t>
            </a:r>
            <a:br/>
            <a:r>
              <a:t>HACKATHON</a:t>
            </a:r>
            <a:br/>
            <a:r>
              <a:t>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@SIH Idea submission- Template                                                                                      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066B2"/>
                </a:solidFill>
              </a:defRPr>
            </a:pPr>
            <a:r>
              <a:t>❖ Proposed Solution (Describe your Idea/Solution/Prototype)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463040"/>
            <a:ext cx="36118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182880"/>
          <a:lstStyle/>
          <a:p>
            <a:pPr algn="ctr">
              <a:spcAft>
                <a:spcPts val="800"/>
              </a:spcAft>
              <a:defRPr sz="1250" b="1">
                <a:solidFill>
                  <a:srgbClr val="102C57"/>
                </a:solidFill>
              </a:defRPr>
            </a:pPr>
            <a:r>
              <a:t>1. Detailed Explanation of Proposed Solution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E293B"/>
                </a:solidFill>
              </a:rPr>
              <a:t>• 100% Read-Only Passive Ingestion:</a:t>
            </a:r>
            <a:r>
              <a:rPr sz="950">
                <a:solidFill>
                  <a:srgbClr val="64748B"/>
                </a:solidFill>
              </a:rPr>
              <a:t> Deploys strictly downstream of physical optical diode taps with TX pins physically cut. Zero packet injection, zero active probing.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E293B"/>
                </a:solidFill>
              </a:rPr>
              <a:t>• Sub-Millisecond Flow Normalization:</a:t>
            </a:r>
            <a:r>
              <a:rPr sz="950">
                <a:solidFill>
                  <a:srgbClr val="64748B"/>
                </a:solidFill>
              </a:rPr>
              <a:t> Reconstructs stateful communication sessions from forward packet headers without requiring reverse TCP handshakes (SYN-ACK / FIN).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E293B"/>
                </a:solidFill>
              </a:rPr>
              <a:t>• Dual-Engine Detection Consensus:</a:t>
            </a:r>
            <a:r>
              <a:rPr sz="950">
                <a:solidFill>
                  <a:srgbClr val="64748B"/>
                </a:solidFill>
              </a:rPr>
              <a:t> Concurrently executes 6 specialized heuristic rule engines alongside a high-throughput HistGradientBoosting ML classifier.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E293B"/>
                </a:solidFill>
              </a:rPr>
              <a:t>• 2026 Enterprise SOC Console:</a:t>
            </a:r>
            <a:r>
              <a:rPr sz="950">
                <a:solidFill>
                  <a:srgbClr val="64748B"/>
                </a:solidFill>
              </a:rPr>
              <a:t> Real-time intelligence dashboard with dark/light themes, live Wi-Fi capture, and an integrated multi-engine threat scanner.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463040"/>
            <a:ext cx="36118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182880"/>
          <a:lstStyle/>
          <a:p>
            <a:pPr algn="ctr">
              <a:spcAft>
                <a:spcPts val="800"/>
              </a:spcAft>
              <a:defRPr sz="1250" b="1">
                <a:solidFill>
                  <a:srgbClr val="0284C7"/>
                </a:solidFill>
              </a:defRPr>
            </a:pPr>
            <a:r>
              <a:t>2. How It Addresses the Problem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E293B"/>
                </a:solidFill>
              </a:rPr>
              <a:t>• Eliminates Asymmetric Blindspots:</a:t>
            </a:r>
            <a:r>
              <a:rPr sz="950">
                <a:solidFill>
                  <a:srgbClr val="64748B"/>
                </a:solidFill>
              </a:rPr>
              <a:t> Conventional NIDS/SIEMs fail when reverse traffic is absent. CyberSentinel's flow tracking extracts full session metrics from one-way feeds.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E293B"/>
                </a:solidFill>
              </a:rPr>
              <a:t>• Zero Reverse-Compromise Risk:</a:t>
            </a:r>
            <a:r>
              <a:rPr sz="950">
                <a:solidFill>
                  <a:srgbClr val="64748B"/>
                </a:solidFill>
              </a:rPr>
              <a:t> Because the sensor physically cannot transmit packets onto the monitored network, attackers cannot detect, probe, or exploit the tap.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E293B"/>
                </a:solidFill>
              </a:rPr>
              <a:t>• Full Multi-Threat Spectrum:</a:t>
            </a:r>
            <a:r>
              <a:rPr sz="950">
                <a:solidFill>
                  <a:srgbClr val="64748B"/>
                </a:solidFill>
              </a:rPr>
              <a:t> Out-of-the-box detection for C2 Beaconing, SYN/UDP DDoS Floods, Port/Host Reconnaissance, DNS DGA/Tunneling, and Data Exfiltration.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E293B"/>
                </a:solidFill>
              </a:rPr>
              <a:t>• Sub-10ms Real-Time Push:</a:t>
            </a:r>
            <a:r>
              <a:rPr sz="950">
                <a:solidFill>
                  <a:srgbClr val="64748B"/>
                </a:solidFill>
              </a:rPr>
              <a:t> Dual WebSockets stream live flow telemetry and threat updates with zero polling delay, eliminating analyst blindspots.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463040"/>
            <a:ext cx="36118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182880"/>
          <a:lstStyle/>
          <a:p>
            <a:pPr algn="ctr">
              <a:spcAft>
                <a:spcPts val="800"/>
              </a:spcAft>
              <a:defRPr sz="1250" b="1">
                <a:solidFill>
                  <a:srgbClr val="10B981"/>
                </a:solidFill>
              </a:defRPr>
            </a:pPr>
            <a:r>
              <a:t>3. Innovation and Uniqueness of Solution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E293B"/>
                </a:solidFill>
              </a:rPr>
              <a:t>• Explainable AI (XAI) Dossiers:</a:t>
            </a:r>
            <a:r>
              <a:rPr sz="950">
                <a:solidFill>
                  <a:srgbClr val="64748B"/>
                </a:solidFill>
              </a:rPr>
              <a:t> Generates transparent evidence bars (Inter-Arrival Time variance, Shannon Byte Entropy, Fan-out ratio) without black-box opacity.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E293B"/>
                </a:solidFill>
              </a:rPr>
              <a:t>• Discrete-Time Markov Trajectory (DTMC):</a:t>
            </a:r>
            <a:r>
              <a:rPr sz="950">
                <a:solidFill>
                  <a:srgbClr val="64748B"/>
                </a:solidFill>
              </a:rPr>
              <a:t> Probabilistic state machine predicts likely lateral progression (Recon ➔ Scan ➔ C2 ➔ Exfiltration) before data loss.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E293B"/>
                </a:solidFill>
              </a:rPr>
              <a:t>• 5-Minute Online Baseline Calibration:</a:t>
            </a:r>
            <a:r>
              <a:rPr sz="950">
                <a:solidFill>
                  <a:srgbClr val="64748B"/>
                </a:solidFill>
              </a:rPr>
              <a:t> Passive learning window auto-calibrates normal bandwidth, typical ports, and packet rates for zero-day anomaly detection.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E293B"/>
                </a:solidFill>
              </a:rPr>
              <a:t>• VirusTotal Multi-Engine Scanner:</a:t>
            </a:r>
            <a:r>
              <a:rPr sz="950">
                <a:solidFill>
                  <a:srgbClr val="64748B"/>
                </a:solidFill>
              </a:rPr>
              <a:t> Integrated file and URL payload inspector providing Shannon entropy analysis, heuristic verdicts, and DGA domain detection.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5852160"/>
            <a:ext cx="11430000" cy="457200"/>
          </a:xfrm>
          <a:prstGeom prst="roundRect">
            <a:avLst/>
          </a:prstGeom>
          <a:solidFill>
            <a:srgbClr val="E6F2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66B2"/>
                </a:solidFill>
              </a:defRPr>
            </a:pPr>
            <a:r>
              <a:t>🔗 Live SOC Console: http://127.0.0.1:8000   |   GitHub Repository: https://github.com/yashwanthsr2/Final-SIH   |   API Docs: /docs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28600"/>
            <a:ext cx="137160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A3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E293B"/>
                </a:solidFill>
              </a:defRPr>
            </a:pPr>
            <a:r>
              <a:t>CODEZILLA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228600"/>
            <a:ext cx="7589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A192F"/>
                </a:solidFill>
                <a:latin typeface="Georgia"/>
              </a:defRPr>
            </a:pPr>
            <a:r>
              <a:t>TECHNICAL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13716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102C57"/>
                </a:solidFill>
              </a:defRPr>
            </a:pPr>
            <a:r>
              <a:t>SMART INDIA</a:t>
            </a:r>
            <a:br/>
            <a:r>
              <a:t>HACKATHON</a:t>
            </a:r>
            <a:br/>
            <a:r>
              <a:t>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@SIH Idea submission- Template                                                                                               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51560"/>
            <a:ext cx="5303520" cy="5212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spcAft>
                <a:spcPts val="400"/>
              </a:spcAft>
              <a:defRPr sz="1400" b="1">
                <a:solidFill>
                  <a:srgbClr val="0066B2"/>
                </a:solidFill>
              </a:defRPr>
            </a:pPr>
            <a:r>
              <a:t>• Technologies to be used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102C57"/>
                </a:solidFill>
              </a:rPr>
              <a:t>✔ Backend API Engine: </a:t>
            </a:r>
            <a:r>
              <a:rPr sz="900">
                <a:solidFill>
                  <a:srgbClr val="64748B"/>
                </a:solidFill>
              </a:rPr>
              <a:t>Python 3.14, FastAPI ASGI, Starlette, Uvicorn, SQLite Async ORM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102C57"/>
                </a:solidFill>
              </a:rPr>
              <a:t>✔ Machine Learning Core: </a:t>
            </a:r>
            <a:r>
              <a:rPr sz="900">
                <a:solidFill>
                  <a:srgbClr val="64748B"/>
                </a:solidFill>
              </a:rPr>
              <a:t>scikit-learn 1.7 (HistGradientBoosting Classifier), NumPy, Pandas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102C57"/>
                </a:solidFill>
              </a:rPr>
              <a:t>✔ Explainable AI (XAI): </a:t>
            </a:r>
            <a:r>
              <a:rPr sz="900">
                <a:solidFill>
                  <a:srgbClr val="64748B"/>
                </a:solidFill>
              </a:rPr>
              <a:t>Inter-Arrival Time (IAT) Variance, Shannon Byte Entropy, Fan-out Ratio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102C57"/>
                </a:solidFill>
              </a:rPr>
              <a:t>✔ Telemetry Ingestion: </a:t>
            </a:r>
            <a:r>
              <a:rPr sz="900">
                <a:solidFill>
                  <a:srgbClr val="64748B"/>
                </a:solidFill>
              </a:rPr>
              <a:t>Zeek/Bro Log Engine, PCAP Replay Engine, Raw Socket Diode Tap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102C57"/>
                </a:solidFill>
              </a:rPr>
              <a:t>✔ Enterprise SOC Frontend: </a:t>
            </a:r>
            <a:r>
              <a:rPr sz="900">
                <a:solidFill>
                  <a:srgbClr val="64748B"/>
                </a:solidFill>
              </a:rPr>
              <a:t>2026 Enterprise SOC Console, Vanilla JS, Chart.js 4.4, D3.js 7.0 Graph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102C57"/>
                </a:solidFill>
              </a:rPr>
              <a:t>✔ Real-Time Protocols: </a:t>
            </a:r>
            <a:r>
              <a:rPr sz="900">
                <a:solidFill>
                  <a:srgbClr val="64748B"/>
                </a:solidFill>
              </a:rPr>
              <a:t>Dual WebSockets (/ws/live for flows, /ws/alerts for incident push)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102C57"/>
                </a:solidFill>
              </a:rPr>
              <a:t>✔ Threat Intelligence: </a:t>
            </a:r>
            <a:r>
              <a:rPr sz="900">
                <a:solidFill>
                  <a:srgbClr val="64748B"/>
                </a:solidFill>
              </a:rPr>
              <a:t>MITRE ATT&amp;CK Mapping (Recon, Scan, C2, Exfil), VirusTotal Heuristics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102C57"/>
                </a:solidFill>
              </a:rPr>
              <a:t>✔ Hardware &amp; Deployment: </a:t>
            </a:r>
            <a:r>
              <a:rPr sz="900">
                <a:solidFill>
                  <a:srgbClr val="64748B"/>
                </a:solidFill>
              </a:rPr>
              <a:t>COTS x86/ARM servers, tactical air-gapped appliances, optical diode taps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051560"/>
            <a:ext cx="5852160" cy="5212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spcAft>
                <a:spcPts val="400"/>
              </a:spcAft>
              <a:defRPr sz="1400" b="1">
                <a:solidFill>
                  <a:srgbClr val="0066B2"/>
                </a:solidFill>
              </a:defRPr>
            </a:pPr>
            <a:r>
              <a:t>• Methodology and Process for Implementation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284C7"/>
                </a:solidFill>
              </a:rPr>
              <a:t>▶ Step 1: Passive Optical Ingestion
</a:t>
            </a:r>
            <a:r>
              <a:rPr sz="900">
                <a:solidFill>
                  <a:srgbClr val="1E293B"/>
                </a:solidFill>
              </a:rPr>
              <a:t>   Hardware optical tap captures raw packets with physical TX severed (zero packet transmission).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284C7"/>
                </a:solidFill>
              </a:rPr>
              <a:t>▶ Step 2: Flow Aggregation &amp; Normalization
</a:t>
            </a:r>
            <a:r>
              <a:rPr sz="900">
                <a:solidFill>
                  <a:srgbClr val="1E293B"/>
                </a:solidFill>
              </a:rPr>
              <a:t>   5-tuple tracking indexes unidirectional flows; tracks forward TCP seq numbers without reverse ACKs.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284C7"/>
                </a:solidFill>
              </a:rPr>
              <a:t>▶ Step 3: Feature Engineering Engine
</a:t>
            </a:r>
            <a:r>
              <a:rPr sz="900">
                <a:solidFill>
                  <a:srgbClr val="1E293B"/>
                </a:solidFill>
              </a:rPr>
              <a:t>   Extracts 42 passive statistical features: packet size dispersion, IAT variance, and Shannon entropy.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284C7"/>
                </a:solidFill>
              </a:rPr>
              <a:t>▶ Step 4: Dual-Engine Detection
</a:t>
            </a:r>
            <a:r>
              <a:rPr sz="900">
                <a:solidFill>
                  <a:srgbClr val="1E293B"/>
                </a:solidFill>
              </a:rPr>
              <a:t>   Concurrently executes 6 Rule Detectors and HistGB ML model; outputs composite risk (0-100).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284C7"/>
                </a:solidFill>
              </a:rPr>
              <a:t>▶ Step 5: DTMC Attack Trajectory
</a:t>
            </a:r>
            <a:r>
              <a:rPr sz="900">
                <a:solidFill>
                  <a:srgbClr val="1E293B"/>
                </a:solidFill>
              </a:rPr>
              <a:t>   Discrete-Time Markov Chain maps lateral transitions (Recon ➔ Scan ➔ C2 ➔ Exfil) with transition probabilities.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284C7"/>
                </a:solidFill>
              </a:rPr>
              <a:t>▶ Step 6: Live 2026 SOC Command Center
</a:t>
            </a:r>
            <a:r>
              <a:rPr sz="900">
                <a:solidFill>
                  <a:srgbClr val="1E293B"/>
                </a:solidFill>
              </a:rPr>
              <a:t>   Broadcasts events via dual WebSockets (&lt;15ms latency) to interactive D3 network graphs and threat dossiers.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28600"/>
            <a:ext cx="137160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A3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E293B"/>
                </a:solidFill>
              </a:defRPr>
            </a:pPr>
            <a:r>
              <a:t>CODEZILLA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228600"/>
            <a:ext cx="7589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A192F"/>
                </a:solidFill>
                <a:latin typeface="Georgia"/>
              </a:defRPr>
            </a:pPr>
            <a:r>
              <a:t>FEASIBILITY AND VIABILITY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13716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102C57"/>
                </a:solidFill>
              </a:defRPr>
            </a:pPr>
            <a:r>
              <a:t>SMART INDIA</a:t>
            </a:r>
            <a:br/>
            <a:r>
              <a:t>HACKATHON</a:t>
            </a:r>
            <a:br/>
            <a:r>
              <a:t>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@SIH Idea submission- Template                                                                                               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51560"/>
            <a:ext cx="3611880" cy="5212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spcAft>
                <a:spcPts val="600"/>
              </a:spcAft>
              <a:defRPr sz="1350" b="1">
                <a:solidFill>
                  <a:srgbClr val="0066B2"/>
                </a:solidFill>
              </a:defRPr>
            </a:pPr>
            <a:r>
              <a:t>• Analysis of Feasibility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0B981"/>
                </a:solidFill>
              </a:rPr>
              <a:t>✔ Operational Prototype: </a:t>
            </a:r>
            <a:r>
              <a:rPr sz="900">
                <a:solidFill>
                  <a:srgbClr val="1E293B"/>
                </a:solidFill>
              </a:rPr>
              <a:t>100% working live system; 34 active FastAPI REST endpoints, real-time WebSockets, and live NIC capture.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0B981"/>
                </a:solidFill>
              </a:rPr>
              <a:t>✔ Hardware Agnostic: </a:t>
            </a:r>
            <a:r>
              <a:rPr sz="900">
                <a:solidFill>
                  <a:srgbClr val="1E293B"/>
                </a:solidFill>
              </a:rPr>
              <a:t>Deploys on commodity COTS x86/ARM hardware, ruggedized field computers, or dedicated data diode appliances.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0B981"/>
                </a:solidFill>
              </a:rPr>
              <a:t>✔ Resource Efficiency: </a:t>
            </a:r>
            <a:r>
              <a:rPr sz="900">
                <a:solidFill>
                  <a:srgbClr val="1E293B"/>
                </a:solidFill>
              </a:rPr>
              <a:t>Sub-10ms inference latency; consumes &lt;150MB RAM; effortlessly handles &gt;25,000 flows per second.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0B981"/>
                </a:solidFill>
              </a:rPr>
              <a:t>✔ Zero Host Overhead: </a:t>
            </a:r>
            <a:r>
              <a:rPr sz="900">
                <a:solidFill>
                  <a:srgbClr val="1E293B"/>
                </a:solidFill>
              </a:rPr>
              <a:t>Requires zero endpoint agents installed on network hosts; zero modification to network routing.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0B981"/>
                </a:solidFill>
              </a:rPr>
              <a:t>✔ Statutory Compliance: </a:t>
            </a:r>
            <a:r>
              <a:rPr sz="900">
                <a:solidFill>
                  <a:srgbClr val="1E293B"/>
                </a:solidFill>
              </a:rPr>
              <a:t>Strictly aligned with CERT-In directives, NTRO specifications, and Indian DPDP Act 2023.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051560"/>
            <a:ext cx="3611880" cy="5212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spcAft>
                <a:spcPts val="600"/>
              </a:spcAft>
              <a:defRPr sz="1350" b="1">
                <a:solidFill>
                  <a:srgbClr val="0066B2"/>
                </a:solidFill>
              </a:defRPr>
            </a:pPr>
            <a:r>
              <a:t>• Potential Challenges and Risks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D97706"/>
                </a:solidFill>
              </a:rPr>
              <a:t>⚠ Asymmetric Flow State:
</a:t>
            </a:r>
            <a:r>
              <a:rPr sz="900">
                <a:solidFill>
                  <a:srgbClr val="1E293B"/>
                </a:solidFill>
              </a:rPr>
              <a:t>   Unidirectional optical diodes drop reverse TCP packets (SYN-ACK / FIN), blinding legacy stateful tracking.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D97706"/>
                </a:solidFill>
              </a:rPr>
              <a:t>⚠ Encrypted TLS 1.3 Traffic:
</a:t>
            </a:r>
            <a:r>
              <a:rPr sz="900">
                <a:solidFill>
                  <a:srgbClr val="1E293B"/>
                </a:solidFill>
              </a:rPr>
              <a:t>   Payload content cannot be decrypted due to legal DPDP privacy rules and cipher suite secrecy.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D97706"/>
                </a:solidFill>
              </a:rPr>
              <a:t>⚠ Extreme Traffic Volume Spikes:
</a:t>
            </a:r>
            <a:r>
              <a:rPr sz="900">
                <a:solidFill>
                  <a:srgbClr val="1E293B"/>
                </a:solidFill>
              </a:rPr>
              <a:t>   Multi-gigabit DDoS volume surges risk buffer starvation, dropped packets, and telemetry loss.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D97706"/>
                </a:solidFill>
              </a:rPr>
              <a:t>⚠ Adversarial Jitter &amp; Drift:
</a:t>
            </a:r>
            <a:r>
              <a:rPr sz="900">
                <a:solidFill>
                  <a:srgbClr val="1E293B"/>
                </a:solidFill>
              </a:rPr>
              <a:t>   Attackers altering C2 beacon timing and jitter intervals to bypass static threshold alerts.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051560"/>
            <a:ext cx="3611880" cy="5212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spcAft>
                <a:spcPts val="600"/>
              </a:spcAft>
              <a:defRPr sz="1350" b="1">
                <a:solidFill>
                  <a:srgbClr val="0066B2"/>
                </a:solidFill>
              </a:defRPr>
            </a:pPr>
            <a:r>
              <a:t>• Strategies for Overcoming Challenges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284C7"/>
                </a:solidFill>
              </a:rPr>
              <a:t>✔ Sliding-Window Session Tracker:
</a:t>
            </a:r>
            <a:r>
              <a:rPr sz="900">
                <a:solidFill>
                  <a:srgbClr val="1E293B"/>
                </a:solidFill>
              </a:rPr>
              <a:t>   Reconstructs flow session lifetime and termination from forward sequence numbers and inter-packet intervals.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284C7"/>
                </a:solidFill>
              </a:rPr>
              <a:t>✔ Passive Metadata Analytics:
</a:t>
            </a:r>
            <a:r>
              <a:rPr sz="900">
                <a:solidFill>
                  <a:srgbClr val="1E293B"/>
                </a:solidFill>
              </a:rPr>
              <a:t>   Calculates Shannon Byte Entropy (0-8 bits) and extracts JA3/JA4 cryptographic fingerprints without payload decryption.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284C7"/>
                </a:solidFill>
              </a:rPr>
              <a:t>✔ Asynchronous Ring Buffering:
</a:t>
            </a:r>
            <a:r>
              <a:rPr sz="900">
                <a:solidFill>
                  <a:srgbClr val="1E293B"/>
                </a:solidFill>
              </a:rPr>
              <a:t>   Non-blocking Python coroutines with selective client ring buffering prevent memory bottlenecks during floods.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0284C7"/>
                </a:solidFill>
              </a:rPr>
              <a:t>✔ Dual-Engine Consensus &amp; Baseline:
</a:t>
            </a:r>
            <a:r>
              <a:rPr sz="900">
                <a:solidFill>
                  <a:srgbClr val="1E293B"/>
                </a:solidFill>
              </a:rPr>
              <a:t>   5-minute online baseline learning continuously auto-calibrates normal bandwidth and port distributions against jitter.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28600"/>
            <a:ext cx="137160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A3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E293B"/>
                </a:solidFill>
              </a:defRPr>
            </a:pPr>
            <a:r>
              <a:t>CODEZILLA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228600"/>
            <a:ext cx="7589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A192F"/>
                </a:solidFill>
                <a:latin typeface="Georgia"/>
              </a:defRPr>
            </a:pPr>
            <a:r>
              <a:t>IMPACT AND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13716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102C57"/>
                </a:solidFill>
              </a:defRPr>
            </a:pPr>
            <a:r>
              <a:t>SMART INDIA</a:t>
            </a:r>
            <a:br/>
            <a:r>
              <a:t>HACKATHON</a:t>
            </a:r>
            <a:br/>
            <a:r>
              <a:t>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@SIH Idea submission- Template                                                                                               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51560"/>
            <a:ext cx="5303520" cy="5212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066B2"/>
                </a:solidFill>
              </a:defRPr>
            </a:pPr>
            <a:r>
              <a:t>• Potential Impact on the Target Audience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102C57"/>
                </a:solidFill>
              </a:rPr>
              <a:t>🛡️ Intelligence &amp; Defense (NTRO / RAW):
</a:t>
            </a:r>
            <a:r>
              <a:rPr sz="900">
                <a:solidFill>
                  <a:srgbClr val="1E293B"/>
                </a:solidFill>
              </a:rPr>
              <a:t>   Enables 100% stealth monitoring of perimeter egress traffic with zero risk of electronic counter-detection or sensor compromise.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102C57"/>
                </a:solidFill>
              </a:rPr>
              <a:t>🛡️ Critical Infrastructure (Power / Rail / Nuclear):
</a:t>
            </a:r>
            <a:r>
              <a:rPr sz="900">
                <a:solidFill>
                  <a:srgbClr val="1E293B"/>
                </a:solidFill>
              </a:rPr>
              <a:t>   Shields industrial SCADA and OT command networks from state-sponsored cyber-sabotage without injecting active probes.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102C57"/>
                </a:solidFill>
              </a:rPr>
              <a:t>🛡️ Enterprise &amp; Banking Data Centers:
</a:t>
            </a:r>
            <a:r>
              <a:rPr sz="900">
                <a:solidFill>
                  <a:srgbClr val="1E293B"/>
                </a:solidFill>
              </a:rPr>
              <a:t>   Provides air-gapped monitoring of high-value transactional core networks to halt covert data exfiltration.</a:t>
            </a:r>
          </a:p>
          <a:p>
            <a:pPr>
              <a:spcAft>
                <a:spcPts val="800"/>
              </a:spcAft>
            </a:pPr>
            <a:r>
              <a:rPr b="1" sz="1000">
                <a:solidFill>
                  <a:srgbClr val="102C57"/>
                </a:solidFill>
              </a:rPr>
              <a:t>🛡️ Incident Response &amp; SOC Teams:
</a:t>
            </a:r>
            <a:r>
              <a:rPr sz="900">
                <a:solidFill>
                  <a:srgbClr val="1E293B"/>
                </a:solidFill>
              </a:rPr>
              <a:t>   Reduces alert fatigue by 70% through correlated threat dossiers, composite risk scoring (0-100), and Explainable AI evidence.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051560"/>
            <a:ext cx="5852160" cy="5212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066B2"/>
                </a:solidFill>
              </a:defRPr>
            </a:pPr>
            <a:r>
              <a:t>• Benefits of the Solution (Social, Economic, Strategic)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0B981"/>
                </a:solidFill>
              </a:rPr>
              <a:t>★ Economic &amp; Cost Efficiency:
</a:t>
            </a:r>
            <a:r>
              <a:rPr sz="900">
                <a:solidFill>
                  <a:srgbClr val="1E293B"/>
                </a:solidFill>
              </a:rPr>
              <a:t>   Built on an open-source, commodity hardware architecture; eliminates crore-level proprietary SIEM license fees and recurring appliance costs.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0B981"/>
                </a:solidFill>
              </a:rPr>
              <a:t>★ Zero-Downtime Deployment:
</a:t>
            </a:r>
            <a:r>
              <a:rPr sz="900">
                <a:solidFill>
                  <a:srgbClr val="1E293B"/>
                </a:solidFill>
              </a:rPr>
              <a:t>   100% passive optical tap deployment requires zero disruption to monitored network traffic, zero maintenance windows, and zero host rebooting.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0B981"/>
                </a:solidFill>
              </a:rPr>
              <a:t>★ Social &amp; Privacy Preservation:
</a:t>
            </a:r>
            <a:r>
              <a:rPr sz="900">
                <a:solidFill>
                  <a:srgbClr val="1E293B"/>
                </a:solidFill>
              </a:rPr>
              <a:t>   Analyzes packet metadata only; adheres strictly to the Digital Personal Data Protection (DPDP) Act 2023 with zero personal communications interception.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0B981"/>
                </a:solidFill>
              </a:rPr>
              <a:t>★ Sovereign Cyber Resilience (Atmanirbhar Bharat):
</a:t>
            </a:r>
            <a:r>
              <a:rPr sz="900">
                <a:solidFill>
                  <a:srgbClr val="1E293B"/>
                </a:solidFill>
              </a:rPr>
              <a:t>   100% indigenous software architecture designed specifically under Make-in-India guidelines for Indian defense and government security teams.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0B981"/>
                </a:solidFill>
              </a:rPr>
              <a:t>★ Pre-Emptive Lateral Defense:
</a:t>
            </a:r>
            <a:r>
              <a:rPr sz="900">
                <a:solidFill>
                  <a:srgbClr val="1E293B"/>
                </a:solidFill>
              </a:rPr>
              <a:t>   Discrete-Time Markov Chain trajectory prediction identifies early reconnaissance and port scanning before data exfiltration occurs.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