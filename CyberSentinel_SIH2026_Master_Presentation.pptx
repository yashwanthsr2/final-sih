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02C57"/>
                </a:solidFill>
                <a:latin typeface="Georgia"/>
              </a:defRPr>
            </a:pPr>
            <a:r>
              <a:t>SMART INDIA HACKATHON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73152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000"/>
              </a:spcAft>
            </a:pPr>
            <a:r>
              <a:rPr b="1" sz="1600">
                <a:solidFill>
                  <a:srgbClr val="003399"/>
                </a:solidFill>
              </a:rPr>
              <a:t>Problem Statement ID :</a:t>
            </a:r>
            <a:r>
              <a:rPr b="1" sz="1600">
                <a:solidFill>
                  <a:srgbClr val="0284C7"/>
                </a:solidFill>
              </a:rPr>
              <a:t> SIH26-26145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03399"/>
                </a:solidFill>
              </a:rPr>
              <a:t>Problem Statement Title :</a:t>
            </a:r>
            <a:r>
              <a:rPr b="0" sz="1600">
                <a:solidFill>
                  <a:srgbClr val="102C57"/>
                </a:solidFill>
              </a:rPr>
              <a:t>
AI-Based Detection of Cyber Threats in Unidirectional IP Traffic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03399"/>
                </a:solidFill>
              </a:rPr>
              <a:t>Organization :</a:t>
            </a:r>
            <a:r>
              <a:rPr b="0" sz="1600">
                <a:solidFill>
                  <a:srgbClr val="102C57"/>
                </a:solidFill>
              </a:rPr>
              <a:t> National Technical Research Organisation (NTRO)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03399"/>
                </a:solidFill>
              </a:rPr>
              <a:t>Theme :</a:t>
            </a:r>
            <a:r>
              <a:rPr b="0" sz="1600">
                <a:solidFill>
                  <a:srgbClr val="102C57"/>
                </a:solidFill>
              </a:rPr>
              <a:t> Blockchain &amp; Cybersecurity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03399"/>
                </a:solidFill>
              </a:rPr>
              <a:t>PS Category :</a:t>
            </a:r>
            <a:r>
              <a:rPr b="0" sz="1600">
                <a:solidFill>
                  <a:srgbClr val="102C57"/>
                </a:solidFill>
              </a:rPr>
              <a:t> Software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03399"/>
                </a:solidFill>
              </a:rPr>
              <a:t>Team ID :</a:t>
            </a:r>
            <a:r>
              <a:rPr b="0" sz="1600">
                <a:solidFill>
                  <a:srgbClr val="102C57"/>
                </a:solidFill>
              </a:rPr>
              <a:t> AMITY-2026-899F3DA7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03399"/>
                </a:solidFill>
              </a:rPr>
              <a:t>Team Name :</a:t>
            </a:r>
            <a:r>
              <a:rPr b="1" sz="1600">
                <a:solidFill>
                  <a:srgbClr val="0284C7"/>
                </a:solidFill>
              </a:rPr>
              <a:t> CODEZILLA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21040" y="1371600"/>
            <a:ext cx="3108960" cy="4663440"/>
          </a:xfrm>
          <a:prstGeom prst="roundRect">
            <a:avLst/>
          </a:prstGeom>
          <a:solidFill>
            <a:srgbClr val="102C57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20040"/>
          <a:lstStyle/>
          <a:p>
            <a:pPr algn="ctr">
              <a:spcAft>
                <a:spcPts val="1400"/>
              </a:spcAft>
              <a:defRPr sz="2000" b="1">
                <a:solidFill>
                  <a:srgbClr val="0284C7"/>
                </a:solidFill>
              </a:defRPr>
            </a:pPr>
            <a:r>
              <a:t>CYBERSENTINEL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FFFFFF"/>
                </a:solidFill>
              </a:rPr>
              <a:t>▶ OPTICAL TAP
</a:t>
            </a:r>
            <a:r>
              <a:rPr sz="950">
                <a:solidFill>
                  <a:srgbClr val="94A3B8"/>
                </a:solidFill>
              </a:rPr>
              <a:t>   100% Unidirectional RX Ingress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FFFFFF"/>
                </a:solidFill>
              </a:rPr>
              <a:t>▶ AGGREGATOR
</a:t>
            </a:r>
            <a:r>
              <a:rPr sz="950">
                <a:solidFill>
                  <a:srgbClr val="94A3B8"/>
                </a:solidFill>
              </a:rPr>
              <a:t>   Sub-ms Asymmetric Flow State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FFFFFF"/>
                </a:solidFill>
              </a:rPr>
              <a:t>▶ DUAL ENGINE
</a:t>
            </a:r>
            <a:r>
              <a:rPr sz="950">
                <a:solidFill>
                  <a:srgbClr val="94A3B8"/>
                </a:solidFill>
              </a:rPr>
              <a:t>   HistGradientBoosting + 6 Detectors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FFFFFF"/>
                </a:solidFill>
              </a:rPr>
              <a:t>▶ EXPLAINABLE AI
</a:t>
            </a:r>
            <a:r>
              <a:rPr sz="950">
                <a:solidFill>
                  <a:srgbClr val="94A3B8"/>
                </a:solidFill>
              </a:rPr>
              <a:t>   Shannon Entropy &amp; IAT Variance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FFFFFF"/>
                </a:solidFill>
              </a:rPr>
              <a:t>▶ DTMC MODEL
</a:t>
            </a:r>
            <a:r>
              <a:rPr sz="950">
                <a:solidFill>
                  <a:srgbClr val="94A3B8"/>
                </a:solidFill>
              </a:rPr>
              <a:t>   Markov Attack Trajectory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FFFFFF"/>
                </a:solidFill>
              </a:rPr>
              <a:t>▶ ENTERPRISE SOC
</a:t>
            </a:r>
            <a:r>
              <a:rPr sz="950">
                <a:solidFill>
                  <a:srgbClr val="94A3B8"/>
                </a:solidFill>
              </a:rPr>
              <a:t>   Real-Time 2026 Intelligence Console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645920" cy="594360"/>
          </a:xfrm>
          <a:prstGeom prst="roundRect">
            <a:avLst/>
          </a:prstGeom>
          <a:solidFill>
            <a:srgbClr val="102C57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CODEZILLA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182880"/>
            <a:ext cx="6217920" cy="594360"/>
          </a:xfrm>
          <a:prstGeom prst="round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IDEA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47548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20240" y="2651760"/>
            <a:ext cx="1645920" cy="1463040"/>
          </a:xfrm>
          <a:prstGeom prst="ellipse">
            <a:avLst/>
          </a:prstGeom>
          <a:solidFill>
            <a:srgbClr val="102C57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CYBERSENTINEL</a:t>
            </a:r>
            <a:br/>
            <a:r>
              <a:t>SOC</a:t>
            </a:r>
          </a:p>
        </p:txBody>
      </p:sp>
      <p:sp>
        <p:nvSpPr>
          <p:cNvPr id="8" name="Oval 7"/>
          <p:cNvSpPr/>
          <p:nvPr/>
        </p:nvSpPr>
        <p:spPr>
          <a:xfrm>
            <a:off x="1920240" y="1234440"/>
            <a:ext cx="1463040" cy="868680"/>
          </a:xfrm>
          <a:prstGeom prst="ellipse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Passive Diode</a:t>
            </a:r>
            <a:br/>
            <a:r>
              <a:t>Ingestion</a:t>
            </a:r>
          </a:p>
        </p:txBody>
      </p:sp>
      <p:sp>
        <p:nvSpPr>
          <p:cNvPr id="9" name="Oval 8"/>
          <p:cNvSpPr/>
          <p:nvPr/>
        </p:nvSpPr>
        <p:spPr>
          <a:xfrm>
            <a:off x="3474720" y="1828800"/>
            <a:ext cx="1463040" cy="868680"/>
          </a:xfrm>
          <a:prstGeom prst="ellipse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Flow</a:t>
            </a:r>
            <a:br/>
            <a:r>
              <a:t>Aggregation</a:t>
            </a:r>
          </a:p>
        </p:txBody>
      </p:sp>
      <p:sp>
        <p:nvSpPr>
          <p:cNvPr id="10" name="Oval 9"/>
          <p:cNvSpPr/>
          <p:nvPr/>
        </p:nvSpPr>
        <p:spPr>
          <a:xfrm>
            <a:off x="3474720" y="3566160"/>
            <a:ext cx="1463040" cy="868680"/>
          </a:xfrm>
          <a:prstGeom prst="ellipse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HistGB AI</a:t>
            </a:r>
            <a:br/>
            <a:r>
              <a:t>Inference</a:t>
            </a:r>
          </a:p>
        </p:txBody>
      </p:sp>
      <p:sp>
        <p:nvSpPr>
          <p:cNvPr id="11" name="Oval 10"/>
          <p:cNvSpPr/>
          <p:nvPr/>
        </p:nvSpPr>
        <p:spPr>
          <a:xfrm>
            <a:off x="1920240" y="4160520"/>
            <a:ext cx="1463040" cy="868680"/>
          </a:xfrm>
          <a:prstGeom prst="ellipse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Explainable</a:t>
            </a:r>
            <a:br/>
            <a:r>
              <a:t>AI (XAI)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566160"/>
            <a:ext cx="1463040" cy="868680"/>
          </a:xfrm>
          <a:prstGeom prst="ellipse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DTMC Attack</a:t>
            </a:r>
            <a:br/>
            <a:r>
              <a:t>Trajectory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1828800"/>
            <a:ext cx="1463040" cy="868680"/>
          </a:xfrm>
          <a:prstGeom prst="ellipse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2026 SOC</a:t>
            </a:r>
            <a:br/>
            <a:r>
              <a:t>Console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3035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Packets ➔ Flow Assembly ➔ Feature Vectors ➔ Detect ➔ Explain ➔ Correlate ➔ Predict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051560"/>
            <a:ext cx="64922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3399"/>
                </a:solidFill>
              </a:defRPr>
            </a:pPr>
            <a:r>
              <a:t>Currently Faced Problems :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DC2626"/>
                </a:solidFill>
              </a:rPr>
              <a:t>☑  Asymmetric Blindspots:</a:t>
            </a:r>
            <a:r>
              <a:rPr sz="1000">
                <a:solidFill>
                  <a:srgbClr val="1E293B"/>
                </a:solidFill>
              </a:rPr>
              <a:t> Unidirectional hardware taps drop return TCP handshakes (SYN-ACK / FIN), blinding legacy NIDS tools.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DC2626"/>
                </a:solidFill>
              </a:rPr>
              <a:t>☑  Encrypted Session Concealment:</a:t>
            </a:r>
            <a:r>
              <a:rPr sz="1000">
                <a:solidFill>
                  <a:srgbClr val="1E293B"/>
                </a:solidFill>
              </a:rPr>
              <a:t> Payloads are TLS 1.3 encrypted and cannot be decrypted due to legal DPDP constraints.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DC2626"/>
                </a:solidFill>
              </a:rPr>
              <a:t>☑  Crippling Alert Fatigue:</a:t>
            </a:r>
            <a:r>
              <a:rPr sz="1000">
                <a:solidFill>
                  <a:srgbClr val="1E293B"/>
                </a:solidFill>
              </a:rPr>
              <a:t> Disjointed detection generates hundreds of unprioritized false positives without correlation.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DC2626"/>
                </a:solidFill>
              </a:rPr>
              <a:t>☑  Black-Box Decision Making:</a:t>
            </a:r>
            <a:r>
              <a:rPr sz="1000">
                <a:solidFill>
                  <a:srgbClr val="1E293B"/>
                </a:solidFill>
              </a:rPr>
              <a:t> Traditional neural models fail to explain WHY a beacon or exfil was flagged.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DC2626"/>
                </a:solidFill>
              </a:rPr>
              <a:t>☑  Lack of Lateral Trajectory:</a:t>
            </a:r>
            <a:r>
              <a:rPr sz="1000">
                <a:solidFill>
                  <a:srgbClr val="1E293B"/>
                </a:solidFill>
              </a:rPr>
              <a:t> Security teams cannot predict the attacker's probable next stage before exfiltration.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74720"/>
            <a:ext cx="64922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3399"/>
                </a:solidFill>
              </a:defRPr>
            </a:pPr>
            <a:r>
              <a:t>Our Idea :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10B981"/>
                </a:solidFill>
              </a:rPr>
              <a:t>☑  Zero-Transmission Optical Ingestion:</a:t>
            </a:r>
            <a:r>
              <a:rPr sz="1000">
                <a:solidFill>
                  <a:srgbClr val="1E293B"/>
                </a:solidFill>
              </a:rPr>
              <a:t> Reconstructs stateful communication sessions purely from passive forward metadata.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10B981"/>
                </a:solidFill>
              </a:rPr>
              <a:t>☑  Dual-Engine Detection Consensus:</a:t>
            </a:r>
            <a:r>
              <a:rPr sz="1000">
                <a:solidFill>
                  <a:srgbClr val="1E293B"/>
                </a:solidFill>
              </a:rPr>
              <a:t> Simultaneously executes 6 specialized rule detectors and HistGradientBoosting ML.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10B981"/>
                </a:solidFill>
              </a:rPr>
              <a:t>☑  Transparent Explainable AI (XAI):</a:t>
            </a:r>
            <a:r>
              <a:rPr sz="1000">
                <a:solidFill>
                  <a:srgbClr val="1E293B"/>
                </a:solidFill>
              </a:rPr>
              <a:t> Produces human-readable evidence bars (IAT variance, Shannon byte entropy, Fan-out).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10B981"/>
                </a:solidFill>
              </a:rPr>
              <a:t>☑  Discrete-Time Markov Chain (DTMC):</a:t>
            </a:r>
            <a:r>
              <a:rPr sz="1000">
                <a:solidFill>
                  <a:srgbClr val="1E293B"/>
                </a:solidFill>
              </a:rPr>
              <a:t> Predicts next lateral attack transitions (Recon ➔ Scan ➔ C2 ➔ Exfiltration).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10B981"/>
                </a:solidFill>
              </a:rPr>
              <a:t>☑  Mission-Control 2026 SOC Platform:</a:t>
            </a:r>
            <a:r>
              <a:rPr sz="1000">
                <a:solidFill>
                  <a:srgbClr val="1E293B"/>
                </a:solidFill>
              </a:rPr>
              <a:t> Real-time dual-theme interface with sub-10ms latency and interactive D3 network graphs.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5833872"/>
            <a:ext cx="6492240" cy="548640"/>
          </a:xfrm>
          <a:prstGeom prst="roundRect">
            <a:avLst/>
          </a:prstGeom>
          <a:solidFill>
            <a:srgbClr val="E6F2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6CC"/>
                </a:solidFill>
              </a:defRPr>
            </a:pPr>
            <a:r>
              <a:t>🔗  Live SOC Dashboard (http://127.0.0.1:8000)   |   GitHub Repository (yashwanthsr2/Final-SIH)   |   Swagger API Docs (/docs)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645920" cy="594360"/>
          </a:xfrm>
          <a:prstGeom prst="roundRect">
            <a:avLst/>
          </a:prstGeom>
          <a:solidFill>
            <a:srgbClr val="102C57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CODEZILLA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182880"/>
            <a:ext cx="6217920" cy="594360"/>
          </a:xfrm>
          <a:prstGeom prst="round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329184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200"/>
              </a:spcAft>
              <a:defRPr sz="1500" b="1">
                <a:solidFill>
                  <a:srgbClr val="102C57"/>
                </a:solidFill>
              </a:defRPr>
            </a:pPr>
            <a:r>
              <a:t>Conceptual Architecture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284C7"/>
                </a:solidFill>
              </a:rPr>
              <a:t>▼ 1. Hardware Diode Tap
</a:t>
            </a:r>
            <a:r>
              <a:rPr sz="950">
                <a:solidFill>
                  <a:srgbClr val="64748B"/>
                </a:solidFill>
              </a:rPr>
              <a:t>   Physical RX-only fiber split
Zero TX / No packet injection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284C7"/>
                </a:solidFill>
              </a:rPr>
              <a:t>▼ 2. Flow Normalization
</a:t>
            </a:r>
            <a:r>
              <a:rPr sz="950">
                <a:solidFill>
                  <a:srgbClr val="64748B"/>
                </a:solidFill>
              </a:rPr>
              <a:t>   5-tuple indexing with timeout
Asymmetric TCP sequence track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284C7"/>
                </a:solidFill>
              </a:rPr>
              <a:t>▼ 3. Feature Extraction
</a:t>
            </a:r>
            <a:r>
              <a:rPr sz="950">
                <a:solidFill>
                  <a:srgbClr val="64748B"/>
                </a:solidFill>
              </a:rPr>
              <a:t>   42 passive statistical features
IAT variance &amp; Shannon entropy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284C7"/>
                </a:solidFill>
              </a:rPr>
              <a:t>▼ 4. Dual-Engine Inference
</a:t>
            </a:r>
            <a:r>
              <a:rPr sz="950">
                <a:solidFill>
                  <a:srgbClr val="64748B"/>
                </a:solidFill>
              </a:rPr>
              <a:t>   6 Rule Engines + HistGB ML
Sub-10ms inference latency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284C7"/>
                </a:solidFill>
              </a:rPr>
              <a:t>▼ 5. DTMC Trajectory
</a:t>
            </a:r>
            <a:r>
              <a:rPr sz="950">
                <a:solidFill>
                  <a:srgbClr val="64748B"/>
                </a:solidFill>
              </a:rPr>
              <a:t>   Markov lateral state model
Transition probability scoring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284C7"/>
                </a:solidFill>
              </a:rPr>
              <a:t>▼ 6. 2026 SOC Command
</a:t>
            </a:r>
            <a:r>
              <a:rPr sz="950">
                <a:solidFill>
                  <a:srgbClr val="64748B"/>
                </a:solidFill>
              </a:rPr>
              <a:t>   Dual WebSocket broadcast
Interactive D3 topology 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051560"/>
            <a:ext cx="7955279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Flow of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43000"/>
            <a:ext cx="4297680" cy="411480"/>
          </a:xfrm>
          <a:prstGeom prst="round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Flow of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691640"/>
            <a:ext cx="2423160" cy="2514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50" b="1">
                <a:solidFill>
                  <a:srgbClr val="102C57"/>
                </a:solidFill>
              </a:defRPr>
            </a:pPr>
            <a:r>
              <a:t>Ingestion &amp; Framing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Live NIC Capture (Wi-Fi/Eth)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PCAP &amp; Zeek Log Streamer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Raw Packet Header Parser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Zero TX Diode Compliance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91640"/>
            <a:ext cx="2423160" cy="2514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50" b="1">
                <a:solidFill>
                  <a:srgbClr val="102C57"/>
                </a:solidFill>
              </a:defRPr>
            </a:pPr>
            <a:r>
              <a:t>Intelligence Core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HistGradientBoosting ML (v1.0)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6 Dedicated Threat Detectors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Sliding-Window Baseline (5m)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Explainable AI Evidence Bars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691640"/>
            <a:ext cx="2423160" cy="2514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50" b="1">
                <a:solidFill>
                  <a:srgbClr val="102C57"/>
                </a:solidFill>
              </a:defRPr>
            </a:pPr>
            <a:r>
              <a:t>Delivery &amp; Action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DTMC Threat Trajectory Engine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Dual WebSockets (/ws/live, alerts)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D3 Force Network Topology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Non-Intrusive Containment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4526280"/>
            <a:ext cx="7955279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4617720"/>
            <a:ext cx="5577840" cy="365760"/>
          </a:xfrm>
          <a:prstGeom prst="round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Foundation of Passive Cyber Threat Intelligence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5120640"/>
            <a:ext cx="1828800" cy="105156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050" b="1">
                <a:solidFill>
                  <a:srgbClr val="102C57"/>
                </a:solidFill>
              </a:defRPr>
            </a:pPr>
            <a:r>
              <a:t>IAT Variance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Periodic beacon detection (&lt;0.08 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5120640"/>
            <a:ext cx="1828800" cy="105156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050" b="1">
                <a:solidFill>
                  <a:srgbClr val="102C57"/>
                </a:solidFill>
              </a:defRPr>
            </a:pPr>
            <a:r>
              <a:t>Shannon Entropy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Payload encryption measurement (0-8)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5120640"/>
            <a:ext cx="1828800" cy="105156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050" b="1">
                <a:solidFill>
                  <a:srgbClr val="102C57"/>
                </a:solidFill>
              </a:defRPr>
            </a:pPr>
            <a:r>
              <a:t>Fan-out Ratio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Reconnaissance &amp; port scan ratio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5120640"/>
            <a:ext cx="1828800" cy="105156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050" b="1">
                <a:solidFill>
                  <a:srgbClr val="102C57"/>
                </a:solidFill>
              </a:defRPr>
            </a:pPr>
            <a:r>
              <a:t>Asymmetric Flow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Sessionless forward sequence state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645920" cy="594360"/>
          </a:xfrm>
          <a:prstGeom prst="roundRect">
            <a:avLst/>
          </a:prstGeom>
          <a:solidFill>
            <a:srgbClr val="102C57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CODEZILLA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182880"/>
            <a:ext cx="6217920" cy="594360"/>
          </a:xfrm>
          <a:prstGeom prst="round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685800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600"/>
              </a:spcAft>
              <a:defRPr sz="1500" b="1">
                <a:solidFill>
                  <a:srgbClr val="003399"/>
                </a:solidFill>
              </a:defRPr>
            </a:pPr>
            <a:r>
              <a:t>Feasibility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310896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1">
                <a:solidFill>
                  <a:srgbClr val="0284C7"/>
                </a:solidFill>
              </a:defRPr>
            </a:pPr>
            <a:r>
              <a:t>Technical Feasibility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Fully working Python 3.14 + FastAPI prototype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HistGB model trained on UWF-ZeekDataSum25-1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&lt;10ms inference time; &lt;150MB RAM usage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Compatible with optical diode physical taps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554480"/>
            <a:ext cx="310896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Economic Feasibility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100% COTS hardware; zero ASIC dependencies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Zero agent installations across enterprise hosts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Eliminates crore-level proprietary SIEM licenses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Modular architecture scales to 100 Gbps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611880"/>
            <a:ext cx="68580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600"/>
              </a:spcAft>
              <a:defRPr sz="1500" b="1">
                <a:solidFill>
                  <a:srgbClr val="003399"/>
                </a:solidFill>
              </a:defRPr>
            </a:pPr>
            <a:r>
              <a:t>Key Challenges &amp; Risk Management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D97706"/>
                </a:solidFill>
              </a:rPr>
              <a:t>• Asymmetric Flow State: </a:t>
            </a:r>
            <a:r>
              <a:rPr sz="950">
                <a:solidFill>
                  <a:srgbClr val="64748B"/>
                </a:solidFill>
              </a:rPr>
              <a:t>No reverse TCP packets (SYN-ACK / FIN) ➔ </a:t>
            </a:r>
            <a:r>
              <a:rPr b="1" sz="950">
                <a:solidFill>
                  <a:srgbClr val="1E293B"/>
                </a:solidFill>
              </a:rPr>
              <a:t>Refined sliding-window session tracker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D97706"/>
                </a:solidFill>
              </a:rPr>
              <a:t>• Encrypted TLS 1.3: </a:t>
            </a:r>
            <a:r>
              <a:rPr sz="950">
                <a:solidFill>
                  <a:srgbClr val="64748B"/>
                </a:solidFill>
              </a:rPr>
              <a:t>Inability to inspect payload data ➔ </a:t>
            </a:r>
            <a:r>
              <a:rPr b="1" sz="950">
                <a:solidFill>
                  <a:srgbClr val="1E293B"/>
                </a:solidFill>
              </a:rPr>
              <a:t>Passive metadata &amp; Shannon entropy features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D97706"/>
                </a:solidFill>
              </a:rPr>
              <a:t>• Class Imbalance: </a:t>
            </a:r>
            <a:r>
              <a:rPr sz="950">
                <a:solidFill>
                  <a:srgbClr val="64748B"/>
                </a:solidFill>
              </a:rPr>
              <a:t>Attacks represent &lt;1% of total network flows ➔ </a:t>
            </a:r>
            <a:r>
              <a:rPr b="1" sz="950">
                <a:solidFill>
                  <a:srgbClr val="1E293B"/>
                </a:solidFill>
              </a:rPr>
              <a:t>Balanced sample-weighting &amp; threshold tuning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D97706"/>
                </a:solidFill>
              </a:rPr>
              <a:t>• DDoS High Volume: </a:t>
            </a:r>
            <a:r>
              <a:rPr sz="950">
                <a:solidFill>
                  <a:srgbClr val="64748B"/>
                </a:solidFill>
              </a:rPr>
              <a:t>Buffer exhaustion under multi-gigabit floods ➔ </a:t>
            </a:r>
            <a:r>
              <a:rPr b="1" sz="950">
                <a:solidFill>
                  <a:srgbClr val="1E293B"/>
                </a:solidFill>
              </a:rPr>
              <a:t>Asynchronous ring buffer &amp; kernel filtering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051560"/>
            <a:ext cx="438912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79" y="1188720"/>
            <a:ext cx="3291840" cy="457200"/>
          </a:xfrm>
          <a:prstGeom prst="round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Our Strategic Approach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783080"/>
            <a:ext cx="3931920" cy="658368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2C57"/>
                </a:solidFill>
              </a:defRPr>
            </a:pPr>
            <a:r>
              <a:t>Sliding-Window Aggregation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Tracks flow timeout &amp; forward TCP seq numbers without reverse ACKs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514600"/>
            <a:ext cx="3931920" cy="658368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2C57"/>
                </a:solidFill>
              </a:defRPr>
            </a:pPr>
            <a:r>
              <a:t>Passive JA3/JA4 &amp; Entropy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Extracts client hello ciphers &amp; Shannon byte randomness (0-8 bits)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246120"/>
            <a:ext cx="3931920" cy="658368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2C57"/>
                </a:solidFill>
              </a:defRPr>
            </a:pPr>
            <a:r>
              <a:t>Dual-Engine Consensus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Combines 6 rule detectors with HistGB ML to eliminate false positives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977640"/>
            <a:ext cx="3931920" cy="658368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2C57"/>
                </a:solidFill>
              </a:defRPr>
            </a:pPr>
            <a:r>
              <a:t>5-Minute Baseline Engine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Passive learning window auto-calibrates normal bandwidth &amp; port rates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709160"/>
            <a:ext cx="3931920" cy="658368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2C57"/>
                </a:solidFill>
              </a:defRPr>
            </a:pPr>
            <a:r>
              <a:t>DTMC Markov Trajectory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Probabilistic graph maps next lateral phase before exfiltration occurs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5440680"/>
            <a:ext cx="3931920" cy="658368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2C57"/>
                </a:solidFill>
              </a:defRPr>
            </a:pPr>
            <a:r>
              <a:t>Explainable AI Dossiers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Translates telemetry features into transparent analyst evidence bars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645920" cy="594360"/>
          </a:xfrm>
          <a:prstGeom prst="roundRect">
            <a:avLst/>
          </a:prstGeom>
          <a:solidFill>
            <a:srgbClr val="102C57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CODEZILLA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182880"/>
            <a:ext cx="6217920" cy="594360"/>
          </a:xfrm>
          <a:prstGeom prst="round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Solution Benefits &amp; Target Audience Impacts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5577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1188720"/>
            <a:ext cx="3566160" cy="411480"/>
          </a:xfrm>
          <a:prstGeom prst="round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Solution Benefits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1645920" cy="1371600"/>
          </a:xfrm>
          <a:prstGeom prst="roundRect">
            <a:avLst/>
          </a:prstGeom>
          <a:solidFill>
            <a:srgbClr val="102C57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CyberSentinel</a:t>
            </a:r>
            <a:br/>
            <a:r>
              <a:t>Passive</a:t>
            </a:r>
            <a:br/>
            <a:r>
              <a:t>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737360"/>
            <a:ext cx="1737360" cy="59436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2C57"/>
                </a:solidFill>
              </a:defRPr>
            </a:pPr>
            <a:r>
              <a:t>100% Stealth Tap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2468880"/>
            <a:ext cx="1737360" cy="59436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2C57"/>
                </a:solidFill>
              </a:defRPr>
            </a:pPr>
            <a:r>
              <a:t>Zero Return Exposure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3200400"/>
            <a:ext cx="1737360" cy="59436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2C57"/>
                </a:solidFill>
              </a:defRPr>
            </a:pPr>
            <a:r>
              <a:t>Explainable AI Triage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3931920"/>
            <a:ext cx="1737360" cy="59436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2C57"/>
                </a:solidFill>
              </a:defRPr>
            </a:pPr>
            <a:r>
              <a:t>Predictive Trajectory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286000"/>
            <a:ext cx="1371600" cy="1737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Key Benefit:</a:t>
            </a:r>
            <a:br/>
            <a:br/>
            <a:r>
              <a:t>Air-Gapped</a:t>
            </a:r>
            <a:br/>
            <a:r>
              <a:t>Stealth Cyber</a:t>
            </a:r>
            <a:br/>
            <a:r>
              <a:t>Intelligence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51560"/>
            <a:ext cx="5577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23760" y="1188720"/>
            <a:ext cx="3566160" cy="411480"/>
          </a:xfrm>
          <a:prstGeom prst="round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Target Audience Impacts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83080"/>
            <a:ext cx="164592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2C57"/>
                </a:solidFill>
              </a:defRPr>
            </a:pPr>
            <a:r>
              <a:t>NTRO &amp; Intelligence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783080"/>
            <a:ext cx="1645920" cy="685800"/>
          </a:xfrm>
          <a:prstGeom prst="roundRect">
            <a:avLst/>
          </a:prstGeom>
          <a:solidFill>
            <a:srgbClr val="E6F0FA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Passive Perimeter Tap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1783080"/>
            <a:ext cx="1554480" cy="685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National Security Defense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651760"/>
            <a:ext cx="164592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2C57"/>
                </a:solidFill>
              </a:defRPr>
            </a:pPr>
            <a:r>
              <a:t>Defense Networks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651760"/>
            <a:ext cx="1645920" cy="685800"/>
          </a:xfrm>
          <a:prstGeom prst="roundRect">
            <a:avLst/>
          </a:prstGeom>
          <a:solidFill>
            <a:srgbClr val="E6F0FA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Air-Gapped C2 Monitor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2651760"/>
            <a:ext cx="1554480" cy="685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Zero Reverse Sensor Exploit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520440"/>
            <a:ext cx="164592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2C57"/>
                </a:solidFill>
              </a:defRPr>
            </a:pPr>
            <a:r>
              <a:t>Critical Infrastructure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520440"/>
            <a:ext cx="1645920" cy="685800"/>
          </a:xfrm>
          <a:prstGeom prst="roundRect">
            <a:avLst/>
          </a:prstGeom>
          <a:solidFill>
            <a:srgbClr val="E6F0FA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Power/Rail Grid Telemetry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3520440"/>
            <a:ext cx="1554480" cy="685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Industrial Sabotage Defense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389120"/>
            <a:ext cx="164592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2C57"/>
                </a:solidFill>
              </a:defRPr>
            </a:pPr>
            <a:r>
              <a:t>Enterprise SOC Teams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389120"/>
            <a:ext cx="1645920" cy="685800"/>
          </a:xfrm>
          <a:prstGeom prst="roundRect">
            <a:avLst/>
          </a:prstGeom>
          <a:solidFill>
            <a:srgbClr val="E6F0FA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Correlated Incident Cards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4389120"/>
            <a:ext cx="1554480" cy="685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70% Triage Time Reduction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486400"/>
            <a:ext cx="5577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0284C7"/>
                </a:solidFill>
              </a:rPr>
              <a:t>➔ Zero Reverse Exposure : </a:t>
            </a:r>
            <a:r>
              <a:rPr sz="900">
                <a:solidFill>
                  <a:srgbClr val="1E293B"/>
                </a:solidFill>
              </a:rPr>
              <a:t>Physical data diode ensures passive monitoring without back-channel intrusion.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5486400"/>
            <a:ext cx="5577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0284C7"/>
                </a:solidFill>
              </a:rPr>
              <a:t>➔ Transparent Explainable AI : </a:t>
            </a:r>
            <a:r>
              <a:rPr sz="900">
                <a:solidFill>
                  <a:srgbClr val="1E293B"/>
                </a:solidFill>
              </a:rPr>
              <a:t>Inter-Arrival Time &amp; entropy scores replace opaque black-box alerts.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925312"/>
            <a:ext cx="5577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0284C7"/>
                </a:solidFill>
              </a:rPr>
              <a:t>➔ Proactive Threat Interception : </a:t>
            </a:r>
            <a:r>
              <a:rPr sz="900">
                <a:solidFill>
                  <a:srgbClr val="1E293B"/>
                </a:solidFill>
              </a:rPr>
              <a:t>DTMC attack trajectory models next lateral steps before data exfiltration.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925312"/>
            <a:ext cx="5577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0284C7"/>
                </a:solidFill>
              </a:rPr>
              <a:t>➔ Sovereign Cyber Resilience : </a:t>
            </a:r>
            <a:r>
              <a:rPr sz="900">
                <a:solidFill>
                  <a:srgbClr val="1E293B"/>
                </a:solidFill>
              </a:rPr>
              <a:t>100% indigenous software built under Make-in-India / Atmanirbhar Bharat.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645920" cy="594360"/>
          </a:xfrm>
          <a:prstGeom prst="roundRect">
            <a:avLst/>
          </a:prstGeom>
          <a:solidFill>
            <a:srgbClr val="102C57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CODEZILLA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182880"/>
            <a:ext cx="6217920" cy="594360"/>
          </a:xfrm>
          <a:prstGeom prst="round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TECHNICAL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6</a:t>
            </a:r>
          </a:p>
        </p:txBody>
      </p:sp>
      <p:pic>
        <p:nvPicPr>
          <p:cNvPr id="6" name="Picture 5" descr="network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3840480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480560" y="1051560"/>
            <a:ext cx="34747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400"/>
              </a:spcAft>
              <a:defRPr sz="1200" b="1">
                <a:solidFill>
                  <a:srgbClr val="003399"/>
                </a:solidFill>
              </a:defRPr>
            </a:pPr>
            <a:r>
              <a:t>1. Objectives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Real-time passive threat intelligence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Sub-millisecond asymmetric flow tracking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Explainable AI feature attribution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Zero packet transmission compliance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51560"/>
            <a:ext cx="34747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400"/>
              </a:spcAft>
              <a:defRPr sz="1200" b="1">
                <a:solidFill>
                  <a:srgbClr val="003399"/>
                </a:solidFill>
              </a:defRPr>
            </a:pPr>
            <a:r>
              <a:t>2. Data Preparation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Raw packet capture from hardware tap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Live Wi-Fi/NIC &amp; PCAP replay engines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Zeek telemetry log normalization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Forward TCP sequence number tracker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788920"/>
            <a:ext cx="34747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400"/>
              </a:spcAft>
              <a:defRPr sz="1200" b="1">
                <a:solidFill>
                  <a:srgbClr val="003399"/>
                </a:solidFill>
              </a:defRPr>
            </a:pPr>
            <a:r>
              <a:t>3. Feature Engine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42 passive statistical features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Inter-Arrival Time (IAT) variance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Shannon Byte Entropy (0 to 8 bits)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Fan-out ratio &amp; port concentration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788920"/>
            <a:ext cx="34747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400"/>
              </a:spcAft>
              <a:defRPr sz="1200" b="1">
                <a:solidFill>
                  <a:srgbClr val="003399"/>
                </a:solidFill>
              </a:defRPr>
            </a:pPr>
            <a:r>
              <a:t>4. Model Processing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HistGradientBoosting ML classifier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6 Dedicated Heuristic Rule Engines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5-Minute online baseline calibration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Dual-engine consensus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526280"/>
            <a:ext cx="34747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400"/>
              </a:spcAft>
              <a:defRPr sz="1200" b="1">
                <a:solidFill>
                  <a:srgbClr val="003399"/>
                </a:solidFill>
              </a:defRPr>
            </a:pPr>
            <a:r>
              <a:t>5. Analysis &amp; Interpretation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Composite Risk Score (0-100)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DTMC Markov Attack Trajectory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Evidence dossiers with XAI bars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Non-intrusive containment guidance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4526280"/>
            <a:ext cx="34747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400"/>
              </a:spcAft>
              <a:defRPr sz="1200" b="1">
                <a:solidFill>
                  <a:srgbClr val="003399"/>
                </a:solidFill>
              </a:defRPr>
            </a:pPr>
            <a:r>
              <a:t>6. Deployment &amp; Insights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FastAPI high-performance REST APIs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Dual WebSocket streaming (&lt;15ms)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2026 Enterprise SOC Console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• Multi-engine VirusTotal threat scanner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645920" cy="594360"/>
          </a:xfrm>
          <a:prstGeom prst="roundRect">
            <a:avLst/>
          </a:prstGeom>
          <a:solidFill>
            <a:srgbClr val="102C57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CODEZILLA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182880"/>
            <a:ext cx="6217920" cy="594360"/>
          </a:xfrm>
          <a:prstGeom prst="round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114300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99"/>
                </a:solidFill>
              </a:defRPr>
            </a:pPr>
            <a:r>
              <a:t>Academic Foundations &amp; Standards</a:t>
            </a:r>
          </a:p>
          <a:p>
            <a:pPr>
              <a:spcAft>
                <a:spcPts val="300"/>
              </a:spcAft>
              <a:defRPr b="1" sz="1100">
                <a:solidFill>
                  <a:srgbClr val="102C57"/>
                </a:solidFill>
              </a:defRPr>
            </a:pPr>
            <a:r>
              <a:t>■ Passive Asymmetric Network Monitoring &amp; Telemetry Ingestion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   • Zeek Network Security Monitor: Vern Paxson et al. — Open-source passive network analysis framework. (https://zeek.org)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   • RFC 7011 IPFIX Protocol: B. Claise et al. — Information Model for IP Flow Information Export. (https://datatracker.ietf.org/doc/html/rfc7011)</a:t>
            </a:r>
          </a:p>
          <a:p>
            <a:pPr>
              <a:spcAft>
                <a:spcPts val="300"/>
              </a:spcAft>
              <a:defRPr b="1" sz="1100">
                <a:solidFill>
                  <a:srgbClr val="102C57"/>
                </a:solidFill>
              </a:defRPr>
            </a:pPr>
            <a:r>
              <a:t>■ Machine Learning Threat Classification &amp; UWF Benchmark Dataset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   • HistGradientBoosting Classifier: Ke, Meng et al. — LightGBM / Scikit-Learn Fast GBDT implementation. (https://scikit-learn.org)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   • UWF-ZeekDataSum25-1 Cybersecurity Dataset: University of West Florida — Comprehensive network threat dataset with 7 MITRE classes.</a:t>
            </a:r>
          </a:p>
          <a:p>
            <a:pPr>
              <a:spcAft>
                <a:spcPts val="300"/>
              </a:spcAft>
              <a:defRPr b="1" sz="1100">
                <a:solidFill>
                  <a:srgbClr val="102C57"/>
                </a:solidFill>
              </a:defRPr>
            </a:pPr>
            <a:r>
              <a:t>■ Explainable AI (XAI) &amp; Discrete-Time Markov Chain (DTMC) Trajectory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   • Explainable AI for Network Intrusion: Lundberg &amp; Lee — Unified Approach to Interpreting Model Predictions. (https://arxiv.org/abs/1705.07874)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   • MITRE ATT&amp;CK Enterprise Matrix: Tactics TA0043 (Recon), TA0011 (C2), TA0010 (Exfiltration). (https://attack.mitre.org)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160520"/>
            <a:ext cx="11430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003399"/>
                </a:solidFill>
              </a:defRPr>
            </a:pPr>
            <a:r>
              <a:t>Field Survey &amp; Domain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17720"/>
            <a:ext cx="512064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000" b="1">
                <a:solidFill>
                  <a:srgbClr val="102C57"/>
                </a:solidFill>
              </a:defRPr>
            </a:pPr>
            <a:r>
              <a:t>Survey Q1: Is passive unidirectional monitoring essential for air-gapped critical infrastructure?</a:t>
            </a:r>
          </a:p>
          <a:p>
            <a:pPr>
              <a:defRPr sz="900">
                <a:solidFill>
                  <a:srgbClr val="10B981"/>
                </a:solidFill>
              </a:defRPr>
            </a:pPr>
            <a:r>
              <a:t>✓ 92.4% YES — Security engineers affirm that physical diode taps are mandatory to prevent electronic counter-attacks.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617720"/>
            <a:ext cx="512064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000" b="1">
                <a:solidFill>
                  <a:srgbClr val="102C57"/>
                </a:solidFill>
              </a:defRPr>
            </a:pPr>
            <a:r>
              <a:t>Survey Q2: Do Explainable AI feature dossiers reduce SOC false-positive investigation time?</a:t>
            </a:r>
          </a:p>
          <a:p>
            <a:pPr>
              <a:defRPr sz="900">
                <a:solidFill>
                  <a:srgbClr val="10B981"/>
                </a:solidFill>
              </a:defRPr>
            </a:pPr>
            <a:r>
              <a:t>✓ 88.7% YES — Analysts report that IAT variance and entropy evidence cuts triage time from hours to under 30 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645920" cy="594360"/>
          </a:xfrm>
          <a:prstGeom prst="roundRect">
            <a:avLst/>
          </a:prstGeom>
          <a:solidFill>
            <a:srgbClr val="102C57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CODEZILLA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182880"/>
            <a:ext cx="6217920" cy="594360"/>
          </a:xfrm>
          <a:prstGeom prst="round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UI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960120"/>
            <a:ext cx="2926080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Website (Dark &amp; Light Mode)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960120"/>
            <a:ext cx="2926080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Operational SOC Views</a:t>
            </a:r>
          </a:p>
        </p:txBody>
      </p:sp>
      <p:pic>
        <p:nvPicPr>
          <p:cNvPr id="8" name="Picture 7" descr="overview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3474720" cy="2286000"/>
          </a:xfrm>
          <a:prstGeom prst="rect">
            <a:avLst/>
          </a:prstGeom>
        </p:spPr>
      </p:pic>
      <p:pic>
        <p:nvPicPr>
          <p:cNvPr id="9" name="Picture 8" descr="overview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86200"/>
            <a:ext cx="3474720" cy="2286000"/>
          </a:xfrm>
          <a:prstGeom prst="rect">
            <a:avLst/>
          </a:prstGeom>
        </p:spPr>
      </p:pic>
      <p:pic>
        <p:nvPicPr>
          <p:cNvPr id="10" name="Picture 9" descr="threat_cen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417320"/>
            <a:ext cx="3474720" cy="2286000"/>
          </a:xfrm>
          <a:prstGeom prst="rect">
            <a:avLst/>
          </a:prstGeom>
        </p:spPr>
      </p:pic>
      <p:pic>
        <p:nvPicPr>
          <p:cNvPr id="11" name="Picture 10" descr="live_traff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886200"/>
            <a:ext cx="3474720" cy="2286000"/>
          </a:xfrm>
          <a:prstGeom prst="rect">
            <a:avLst/>
          </a:prstGeom>
        </p:spPr>
      </p:pic>
      <p:pic>
        <p:nvPicPr>
          <p:cNvPr id="12" name="Picture 11" descr="trajec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1417320"/>
            <a:ext cx="3474720" cy="2286000"/>
          </a:xfrm>
          <a:prstGeom prst="rect">
            <a:avLst/>
          </a:prstGeom>
        </p:spPr>
      </p:pic>
      <p:pic>
        <p:nvPicPr>
          <p:cNvPr id="13" name="Picture 12" descr="settings_dia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3886200"/>
            <a:ext cx="347472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645920" cy="594360"/>
          </a:xfrm>
          <a:prstGeom prst="roundRect">
            <a:avLst/>
          </a:prstGeom>
          <a:solidFill>
            <a:srgbClr val="102C57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CODEZILLA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182880"/>
            <a:ext cx="6217920" cy="594360"/>
          </a:xfrm>
          <a:prstGeom prst="round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114300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188720"/>
            <a:ext cx="1188720" cy="731520"/>
          </a:xfrm>
          <a:prstGeom prst="ellipse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920240" cy="17830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050" b="1">
                <a:solidFill>
                  <a:srgbClr val="102C57"/>
                </a:solidFill>
              </a:defRPr>
            </a:pPr>
            <a:r>
              <a:t>Backend Core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FastAPI &amp; Uvicorn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Python 3.14 Async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SQLite ORM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Dual WebSockets</a:t>
            </a:r>
          </a:p>
        </p:txBody>
      </p:sp>
      <p:sp>
        <p:nvSpPr>
          <p:cNvPr id="9" name="Oval 8"/>
          <p:cNvSpPr/>
          <p:nvPr/>
        </p:nvSpPr>
        <p:spPr>
          <a:xfrm>
            <a:off x="3291840" y="1188720"/>
            <a:ext cx="1188720" cy="731520"/>
          </a:xfrm>
          <a:prstGeom prst="ellipse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011680"/>
            <a:ext cx="1920240" cy="17830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050" b="1">
                <a:solidFill>
                  <a:srgbClr val="102C57"/>
                </a:solidFill>
              </a:defRPr>
            </a:pPr>
            <a:r>
              <a:t>ML Intelligence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HistGradientBoosting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scikit-learn 1.7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NumPy &amp; Pandas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XAI Feature Engine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1188720"/>
            <a:ext cx="1188720" cy="731520"/>
          </a:xfrm>
          <a:prstGeom prst="ellipse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Network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011680"/>
            <a:ext cx="1920240" cy="17830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050" b="1">
                <a:solidFill>
                  <a:srgbClr val="102C57"/>
                </a:solidFill>
              </a:defRPr>
            </a:pPr>
            <a:r>
              <a:t>Network Telemetry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Zeek Sensor Logs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PCAP Replay Engine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Raw Socket Tap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Sliding Aggregator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0" y="1188720"/>
            <a:ext cx="1188720" cy="731520"/>
          </a:xfrm>
          <a:prstGeom prst="ellipse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SOC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011680"/>
            <a:ext cx="1920240" cy="17830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050" b="1">
                <a:solidFill>
                  <a:srgbClr val="102C57"/>
                </a:solidFill>
              </a:defRPr>
            </a:pPr>
            <a:r>
              <a:t>SOC Frontend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Vanilla JS &amp; CSS3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Chart.js 4.4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D3.js 7.0 Graph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Inter &amp; Mono Fonts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0" y="1188720"/>
            <a:ext cx="1188720" cy="731520"/>
          </a:xfrm>
          <a:prstGeom prst="ellipse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DevOps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2011680"/>
            <a:ext cx="1920240" cy="17830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050" b="1">
                <a:solidFill>
                  <a:srgbClr val="102C57"/>
                </a:solidFill>
              </a:defRPr>
            </a:pPr>
            <a:r>
              <a:t>DevOps &amp; Audit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Docker Container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GitHub Actions CI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Zero-TX Audit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CERT-In Compliance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160520"/>
            <a:ext cx="11430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297680"/>
            <a:ext cx="1691640" cy="320040"/>
          </a:xfrm>
          <a:prstGeom prst="roundRect">
            <a:avLst/>
          </a:prstGeom>
          <a:solidFill>
            <a:srgbClr val="80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2C57"/>
                </a:solidFill>
              </a:defRPr>
            </a:pPr>
            <a:r>
              <a:t>Team Leader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09160"/>
            <a:ext cx="16916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200"/>
              </a:spcAft>
              <a:defRPr sz="950" b="1">
                <a:solidFill>
                  <a:srgbClr val="102C57"/>
                </a:solidFill>
              </a:defRPr>
            </a:pPr>
            <a:r>
              <a:t>Full-Stack &amp; Integration Lead</a:t>
            </a:r>
          </a:p>
          <a:p>
            <a:pPr algn="ctr">
              <a:spcAft>
                <a:spcPts val="200"/>
              </a:spcAft>
              <a:defRPr sz="850">
                <a:solidFill>
                  <a:srgbClr val="64748B"/>
                </a:solidFill>
              </a:defRPr>
            </a:pPr>
            <a:r>
              <a:t>B.Tech CSE</a:t>
            </a:r>
            <a:br/>
            <a:r>
              <a:t>3rd Year</a:t>
            </a:r>
          </a:p>
          <a:p>
            <a:pPr algn="ctr">
              <a:defRPr sz="800" b="1">
                <a:solidFill>
                  <a:srgbClr val="0284C7"/>
                </a:solidFill>
              </a:defRPr>
            </a:pPr>
            <a:r>
              <a:t>Domain: Architecture &amp; APIs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3159" y="4297680"/>
            <a:ext cx="1691640" cy="320040"/>
          </a:xfrm>
          <a:prstGeom prst="roundRect">
            <a:avLst/>
          </a:prstGeom>
          <a:solidFill>
            <a:srgbClr val="B3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2C57"/>
                </a:solidFill>
              </a:defRPr>
            </a:pPr>
            <a:r>
              <a:t>Team Member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23159" y="4709160"/>
            <a:ext cx="16916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200"/>
              </a:spcAft>
              <a:defRPr sz="950" b="1">
                <a:solidFill>
                  <a:srgbClr val="102C57"/>
                </a:solidFill>
              </a:defRPr>
            </a:pPr>
            <a:r>
              <a:t>AI / Machine Learning Engineer</a:t>
            </a:r>
          </a:p>
          <a:p>
            <a:pPr algn="ctr">
              <a:spcAft>
                <a:spcPts val="200"/>
              </a:spcAft>
              <a:defRPr sz="850">
                <a:solidFill>
                  <a:srgbClr val="64748B"/>
                </a:solidFill>
              </a:defRPr>
            </a:pPr>
            <a:r>
              <a:t>B.Tech CSE (AIML)</a:t>
            </a:r>
            <a:br/>
            <a:r>
              <a:t>3rd Year</a:t>
            </a:r>
          </a:p>
          <a:p>
            <a:pPr algn="ctr">
              <a:defRPr sz="800" b="1">
                <a:solidFill>
                  <a:srgbClr val="0284C7"/>
                </a:solidFill>
              </a:defRPr>
            </a:pPr>
            <a:r>
              <a:t>Domain: HistGB &amp; Model Center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8" y="4297680"/>
            <a:ext cx="1691640" cy="320040"/>
          </a:xfrm>
          <a:prstGeom prst="roundRect">
            <a:avLst/>
          </a:prstGeom>
          <a:solidFill>
            <a:srgbClr val="B3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2C57"/>
                </a:solidFill>
              </a:defRPr>
            </a:pPr>
            <a:r>
              <a:t>Team Member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8" y="4709160"/>
            <a:ext cx="16916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200"/>
              </a:spcAft>
              <a:defRPr sz="950" b="1">
                <a:solidFill>
                  <a:srgbClr val="102C57"/>
                </a:solidFill>
              </a:defRPr>
            </a:pPr>
            <a:r>
              <a:t>Network Security Specialist</a:t>
            </a:r>
          </a:p>
          <a:p>
            <a:pPr algn="ctr">
              <a:spcAft>
                <a:spcPts val="200"/>
              </a:spcAft>
              <a:defRPr sz="850">
                <a:solidFill>
                  <a:srgbClr val="64748B"/>
                </a:solidFill>
              </a:defRPr>
            </a:pPr>
            <a:r>
              <a:t>B.Tech IT</a:t>
            </a:r>
            <a:br/>
            <a:r>
              <a:t>3rd Year</a:t>
            </a:r>
          </a:p>
          <a:p>
            <a:pPr algn="ctr">
              <a:defRPr sz="800" b="1">
                <a:solidFill>
                  <a:srgbClr val="0284C7"/>
                </a:solidFill>
              </a:defRPr>
            </a:pPr>
            <a:r>
              <a:t>Domain: Zeek &amp; Diode Ingestion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197" y="4297680"/>
            <a:ext cx="1691640" cy="320040"/>
          </a:xfrm>
          <a:prstGeom prst="roundRect">
            <a:avLst/>
          </a:prstGeom>
          <a:solidFill>
            <a:srgbClr val="B3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2C57"/>
                </a:solidFill>
              </a:defRPr>
            </a:pPr>
            <a:r>
              <a:t>Team Member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197" y="4709160"/>
            <a:ext cx="16916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200"/>
              </a:spcAft>
              <a:defRPr sz="950" b="1">
                <a:solidFill>
                  <a:srgbClr val="102C57"/>
                </a:solidFill>
              </a:defRPr>
            </a:pPr>
            <a:r>
              <a:t>UI / UX &amp; SOC Product Designer</a:t>
            </a:r>
          </a:p>
          <a:p>
            <a:pPr algn="ctr">
              <a:spcAft>
                <a:spcPts val="200"/>
              </a:spcAft>
              <a:defRPr sz="850">
                <a:solidFill>
                  <a:srgbClr val="64748B"/>
                </a:solidFill>
              </a:defRPr>
            </a:pPr>
            <a:r>
              <a:t>B.Tech CSIT</a:t>
            </a:r>
            <a:br/>
            <a:r>
              <a:t>3rd Year</a:t>
            </a:r>
          </a:p>
          <a:p>
            <a:pPr algn="ctr">
              <a:defRPr sz="800" b="1">
                <a:solidFill>
                  <a:srgbClr val="0284C7"/>
                </a:solidFill>
              </a:defRPr>
            </a:pPr>
            <a:r>
              <a:t>Domain: 2026 Enterprise SOC UI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6" y="4297680"/>
            <a:ext cx="1691640" cy="320040"/>
          </a:xfrm>
          <a:prstGeom prst="roundRect">
            <a:avLst/>
          </a:prstGeom>
          <a:solidFill>
            <a:srgbClr val="B3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2C57"/>
                </a:solidFill>
              </a:defRPr>
            </a:pPr>
            <a:r>
              <a:t>Team Member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6" y="4709160"/>
            <a:ext cx="16916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200"/>
              </a:spcAft>
              <a:defRPr sz="950" b="1">
                <a:solidFill>
                  <a:srgbClr val="102C57"/>
                </a:solidFill>
              </a:defRPr>
            </a:pPr>
            <a:r>
              <a:t>Threat Intelligence Specialist</a:t>
            </a:r>
          </a:p>
          <a:p>
            <a:pPr algn="ctr">
              <a:spcAft>
                <a:spcPts val="200"/>
              </a:spcAft>
              <a:defRPr sz="850">
                <a:solidFill>
                  <a:srgbClr val="64748B"/>
                </a:solidFill>
              </a:defRPr>
            </a:pPr>
            <a:r>
              <a:t>B.Tech CSE</a:t>
            </a:r>
            <a:br/>
            <a:r>
              <a:t>3rd Year</a:t>
            </a:r>
          </a:p>
          <a:p>
            <a:pPr algn="ctr">
              <a:defRPr sz="800" b="1">
                <a:solidFill>
                  <a:srgbClr val="0284C7"/>
                </a:solidFill>
              </a:defRPr>
            </a:pPr>
            <a:r>
              <a:t>Domain: 6 Detectors &amp; MITRE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21235" y="4297680"/>
            <a:ext cx="1691640" cy="320040"/>
          </a:xfrm>
          <a:prstGeom prst="roundRect">
            <a:avLst/>
          </a:prstGeom>
          <a:solidFill>
            <a:srgbClr val="B3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2C57"/>
                </a:solidFill>
              </a:defRPr>
            </a:pPr>
            <a:r>
              <a:t>Team Member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21235" y="4709160"/>
            <a:ext cx="16916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200"/>
              </a:spcAft>
              <a:defRPr sz="950" b="1">
                <a:solidFill>
                  <a:srgbClr val="102C57"/>
                </a:solidFill>
              </a:defRPr>
            </a:pPr>
            <a:r>
              <a:t>DevOps &amp; Systems Engineer</a:t>
            </a:r>
          </a:p>
          <a:p>
            <a:pPr algn="ctr">
              <a:spcAft>
                <a:spcPts val="200"/>
              </a:spcAft>
              <a:defRPr sz="850">
                <a:solidFill>
                  <a:srgbClr val="64748B"/>
                </a:solidFill>
              </a:defRPr>
            </a:pPr>
            <a:r>
              <a:t>B.Tech CSE</a:t>
            </a:r>
            <a:br/>
            <a:r>
              <a:t>3rd Year</a:t>
            </a:r>
          </a:p>
          <a:p>
            <a:pPr algn="ctr">
              <a:defRPr sz="800" b="1">
                <a:solidFill>
                  <a:srgbClr val="0284C7"/>
                </a:solidFill>
              </a:defRPr>
            </a:pPr>
            <a:r>
              <a:t>Domain: WebSockets &amp; Benchmarks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645920" cy="594360"/>
          </a:xfrm>
          <a:prstGeom prst="roundRect">
            <a:avLst/>
          </a:prstGeom>
          <a:solidFill>
            <a:srgbClr val="102C57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CODEZILLA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182880"/>
            <a:ext cx="6217920" cy="594360"/>
          </a:xfrm>
          <a:prstGeom prst="roundRect">
            <a:avLst/>
          </a:prstGeom>
          <a:solidFill>
            <a:srgbClr val="2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LIVE DEMONSTRATION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1143000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03399"/>
                </a:solidFill>
              </a:defRPr>
            </a:pPr>
            <a:r>
              <a:t>CyberSentinel Operational Demonstration Playbook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284C7"/>
                </a:solidFill>
              </a:rPr>
              <a:t>▶ 1. Executive Overview &amp; Health Verification
</a:t>
            </a:r>
            <a:r>
              <a:rPr sz="1000">
                <a:solidFill>
                  <a:srgbClr val="1E293B"/>
                </a:solidFill>
              </a:rPr>
              <a:t>   Navigate to http://127.0.0.1:8000/. Demonstrate the compact security posture strip, real-time UTC clock, and verified system health indicators showing all 6 detectors operational.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284C7"/>
                </a:solidFill>
              </a:rPr>
              <a:t>▶ 2. Live Wi-Fi Passive Capture
</a:t>
            </a:r>
            <a:r>
              <a:rPr sz="1000">
                <a:solidFill>
                  <a:srgbClr val="1E293B"/>
                </a:solidFill>
              </a:rPr>
              <a:t>   Switch to 'Live Monitor' tab. Select local Wi-Fi interface. Click 'Start Capture'. Browse standard websites (Google, YouTube) to showcase real-time packet ingestion without payload inspection.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284C7"/>
                </a:solidFill>
              </a:rPr>
              <a:t>▶ 3. Controlled Threat Scenario Replay
</a:t>
            </a:r>
            <a:r>
              <a:rPr sz="1000">
                <a:solidFill>
                  <a:srgbClr val="1E293B"/>
                </a:solidFill>
              </a:rPr>
              <a:t>   Toggle to 'Replay' mode. Start controlled replay of C2 beaconing &amp; SYN flood traffic. Observe sub-10ms detector triggering and automatic WebSocket incident alerts populating the dashboard.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284C7"/>
                </a:solidFill>
              </a:rPr>
              <a:t>▶ 4. Threat Center &amp; Explainable AI Dossier
</a:t>
            </a:r>
            <a:r>
              <a:rPr sz="1000">
                <a:solidFill>
                  <a:srgbClr val="1E293B"/>
                </a:solidFill>
              </a:rPr>
              <a:t>   Open 'Threat Center' and inspect the C2 Beaconing incident. Showcase the Explainable AI card: Inter-Arrival Time consistency (91%), Shannon Byte Entropy (7.8), and non-intrusive containment playbooks.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284C7"/>
                </a:solidFill>
              </a:rPr>
              <a:t>▶ 5. Attack Trajectory &amp; D3 Topology
</a:t>
            </a:r>
            <a:r>
              <a:rPr sz="1000">
                <a:solidFill>
                  <a:srgbClr val="1E293B"/>
                </a:solidFill>
              </a:rPr>
              <a:t>   Open 'Attack Trajectory' to illustrate the Discrete-Time Markov Chain predicting the probable next lateral phase (Recon ➔ Scan ➔ C2 ➔ Exfil). Open 'Network Graph' to inspect the entity relationships.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284C7"/>
                </a:solidFill>
              </a:rPr>
              <a:t>▶ 6. Multi-Engine Threat Scanner (VirusTotal Style)
</a:t>
            </a:r>
            <a:r>
              <a:rPr sz="1000">
                <a:solidFill>
                  <a:srgbClr val="1E293B"/>
                </a:solidFill>
              </a:rPr>
              <a:t>   Navigate to 'Threat Scanner'. Upload a test payload or URL to demonstrate instant multi-engine heuristic scanning, Shannon entropy calculation, and DGA domain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