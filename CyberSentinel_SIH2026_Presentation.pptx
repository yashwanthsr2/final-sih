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  <a:latin typeface="Georgia"/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4297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spcAft>
                <a:spcPts val="800"/>
              </a:spcAft>
            </a:pPr>
            <a:r>
              <a:rPr b="1" sz="1700">
                <a:solidFill>
                  <a:srgbClr val="1E293B"/>
                </a:solidFill>
              </a:rPr>
              <a:t>•  Problem Statement ID — </a:t>
            </a:r>
            <a:r>
              <a:rPr b="1" sz="1700">
                <a:solidFill>
                  <a:srgbClr val="0284C7"/>
                </a:solidFill>
              </a:rPr>
              <a:t>SIH26-26145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E293B"/>
                </a:solidFill>
              </a:rPr>
              <a:t>•  Problem Statement Title — </a:t>
            </a:r>
            <a:r>
              <a:rPr b="0" sz="1700">
                <a:solidFill>
                  <a:srgbClr val="1E293B"/>
                </a:solidFill>
              </a:rPr>
              <a:t>AI-Based Detection of Cyber Threats in Unidirectional IP Traffic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E293B"/>
                </a:solidFill>
              </a:rPr>
              <a:t>•  Organization / Ministry — </a:t>
            </a:r>
            <a:r>
              <a:rPr b="0" sz="1700">
                <a:solidFill>
                  <a:srgbClr val="1E293B"/>
                </a:solidFill>
              </a:rPr>
              <a:t>National Technical Research Organisation (NTRO)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E293B"/>
                </a:solidFill>
              </a:rPr>
              <a:t>•  Theme — </a:t>
            </a:r>
            <a:r>
              <a:rPr b="0" sz="1700">
                <a:solidFill>
                  <a:srgbClr val="1E293B"/>
                </a:solidFill>
              </a:rPr>
              <a:t>Blockchain &amp; Cybersecurity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E293B"/>
                </a:solidFill>
              </a:rPr>
              <a:t>•  PS Category — </a:t>
            </a:r>
            <a:r>
              <a:rPr b="0" sz="17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E293B"/>
                </a:solidFill>
              </a:rPr>
              <a:t>•  Team ID — </a:t>
            </a:r>
            <a:r>
              <a:rPr b="0" sz="1700">
                <a:solidFill>
                  <a:srgbClr val="1E293B"/>
                </a:solidFill>
              </a:rPr>
              <a:t>AMITY-2026-899F3DA7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E293B"/>
                </a:solidFill>
              </a:rPr>
              <a:t>•  Team Name — </a:t>
            </a:r>
            <a:r>
              <a:rPr b="1" sz="1700">
                <a:solidFill>
                  <a:srgbClr val="0284C7"/>
                </a:solidFill>
              </a:rPr>
              <a:t>CODEZILLA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E293B"/>
                </a:solidFill>
              </a:rPr>
              <a:t>•  Project Title — </a:t>
            </a:r>
            <a:r>
              <a:rPr b="1" sz="1700">
                <a:solidFill>
                  <a:srgbClr val="0284C7"/>
                </a:solidFill>
              </a:rPr>
              <a:t>CyberSentinel: Real-Time Passive Threat Intelligence &amp; AI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CODEZILLA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2C57"/>
                </a:solidFill>
                <a:latin typeface="Georgia"/>
              </a:defRPr>
            </a:pPr>
            <a:r>
              <a:t>CYBERSENTINEL —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B2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4617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02C57"/>
                </a:solidFill>
              </a:defRPr>
            </a:pPr>
            <a:r>
              <a:t>1. Detailed Solution Architecture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100% Read-Only Passive Ingestion:</a:t>
            </a:r>
            <a:r>
              <a:rPr sz="1150">
                <a:solidFill>
                  <a:srgbClr val="1E293B"/>
                </a:solidFill>
              </a:rPr>
              <a:t> Operates downstream of a hardware optical diode / data diode tap with zero packet transmission.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Sub-Millisecond Flow Aggregator:</a:t>
            </a:r>
            <a:r>
              <a:rPr sz="1150">
                <a:solidFill>
                  <a:srgbClr val="1E293B"/>
                </a:solidFill>
              </a:rPr>
              <a:t> Assembles unidirectional flows (TCP/UDP/ICMP) without needing return handshake (SYN-ACK / FIN).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Dual-Engine Detection:</a:t>
            </a:r>
            <a:r>
              <a:rPr sz="1150">
                <a:solidFill>
                  <a:srgbClr val="1E293B"/>
                </a:solidFill>
              </a:rPr>
              <a:t> Rule-based heuristic multi-stage engines running concurrently with HistGradientBoosting ML models.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Full 2026 Enterprise SOC UI:</a:t>
            </a:r>
            <a:r>
              <a:rPr sz="1150">
                <a:solidFill>
                  <a:srgbClr val="1E293B"/>
                </a:solidFill>
              </a:rPr>
              <a:t> Complete live dashboard with Dark/Light modes, topology graph, and VirusTotal-style threat scanner.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29000" cy="4617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02C57"/>
                </a:solidFill>
              </a:defRPr>
            </a:pPr>
            <a:r>
              <a:t>2. How It Solves the NTRO Problem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Eliminates Asymmetric Blindspots:</a:t>
            </a:r>
            <a:r>
              <a:rPr sz="1150">
                <a:solidFill>
                  <a:srgbClr val="1E293B"/>
                </a:solidFill>
              </a:rPr>
              <a:t> Statistical flow reconstruction decodes beaconing &amp; exfiltration without bidirectional state.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Zero Reverse-Channel Intrusion:</a:t>
            </a:r>
            <a:r>
              <a:rPr sz="1150">
                <a:solidFill>
                  <a:srgbClr val="1E293B"/>
                </a:solidFill>
              </a:rPr>
              <a:t> Complete physical air-gap preservation; impossible for attackers to detect or compromise the sensor.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Multi-Threat Coverage:</a:t>
            </a:r>
            <a:r>
              <a:rPr sz="1150">
                <a:solidFill>
                  <a:srgbClr val="1E293B"/>
                </a:solidFill>
              </a:rPr>
              <a:t> Actively detects C2 Beaconing, SYN/UDP DDoS Floods, Port/Host Scanning, DNS Exfiltration, and Brute Force.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Real-Time WebSocket Stream:</a:t>
            </a:r>
            <a:r>
              <a:rPr sz="1150">
                <a:solidFill>
                  <a:srgbClr val="1E293B"/>
                </a:solidFill>
              </a:rPr>
              <a:t> Zero polling latency (&lt;15ms) delivering flow telemetry and threat updates directly to analysts.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00200"/>
            <a:ext cx="3429000" cy="4617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02C57"/>
                </a:solidFill>
              </a:defRPr>
            </a:pPr>
            <a:r>
              <a:t>3. Innovation &amp; Uniqueness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Explainable AI (XAI) Feature Contributions:</a:t>
            </a:r>
            <a:r>
              <a:rPr sz="1150">
                <a:solidFill>
                  <a:srgbClr val="1E293B"/>
                </a:solidFill>
              </a:rPr>
              <a:t> Generates human-readable evidence bars (IAT variance, Shannon Entropy, Fan-out).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Markov Attack Trajectory (DTMC):</a:t>
            </a:r>
            <a:r>
              <a:rPr sz="1150">
                <a:solidFill>
                  <a:srgbClr val="1E293B"/>
                </a:solidFill>
              </a:rPr>
              <a:t> Discrete-Time Markov model predicts probable lateral progression (Recon → Scan → C2 → Exfil).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Online Baseline Calibration:</a:t>
            </a:r>
            <a:r>
              <a:rPr sz="1150">
                <a:solidFill>
                  <a:srgbClr val="1E293B"/>
                </a:solidFill>
              </a:rPr>
              <a:t> 5-minute passive learning window continuously models normal operational bandwidth &amp; ports.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VirusTotal Multi-Engine Scanner:</a:t>
            </a:r>
            <a:r>
              <a:rPr sz="1150">
                <a:solidFill>
                  <a:srgbClr val="1E293B"/>
                </a:solidFill>
              </a:rPr>
              <a:t> Integrated file &amp; URL threat scanner providing instant Shannon entropy &amp; DGA heuristics.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CODEZILLA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2C57"/>
                </a:solidFill>
                <a:latin typeface="Georgia"/>
              </a:defRPr>
            </a:pPr>
            <a:r>
              <a:t>TECHNICAL APPROACH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B2"/>
                </a:solidFill>
              </a:defRPr>
            </a:pPr>
            <a:r>
              <a:t>❖ Technologies Used &amp; Implementation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2C57"/>
                </a:solidFill>
              </a:defRPr>
            </a:pPr>
            <a:r>
              <a:t>Technologies &amp; Frameworks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284C7"/>
                </a:solidFill>
              </a:rPr>
              <a:t>• Backend API Engine: </a:t>
            </a:r>
            <a:r>
              <a:rPr sz="1150">
                <a:solidFill>
                  <a:srgbClr val="1E293B"/>
                </a:solidFill>
              </a:rPr>
              <a:t>Python 3.14, FastAPI, Starlette, Uvicorn, SQLite (Async ORM)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284C7"/>
                </a:solidFill>
              </a:rPr>
              <a:t>• Machine Learning Core: </a:t>
            </a:r>
            <a:r>
              <a:rPr sz="1150">
                <a:solidFill>
                  <a:srgbClr val="1E293B"/>
                </a:solidFill>
              </a:rPr>
              <a:t>scikit-learn 1.7 (HistGradientBoosting Classifier), NumPy, Pandas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284C7"/>
                </a:solidFill>
              </a:rPr>
              <a:t>• Explainable AI (XAI): </a:t>
            </a:r>
            <a:r>
              <a:rPr sz="1150">
                <a:solidFill>
                  <a:srgbClr val="1E293B"/>
                </a:solidFill>
              </a:rPr>
              <a:t>Inter-Arrival Time (IAT) Variance, Byte Entropy (Shannon), Fan-out Ratio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284C7"/>
                </a:solidFill>
              </a:rPr>
              <a:t>• Network Telemetry: </a:t>
            </a:r>
            <a:r>
              <a:rPr sz="1150">
                <a:solidFill>
                  <a:srgbClr val="1E293B"/>
                </a:solidFill>
              </a:rPr>
              <a:t>Zeek / Bro sensor integration, PCAP Replay engine, Raw Socket Diode Tap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284C7"/>
                </a:solidFill>
              </a:rPr>
              <a:t>• Enterprise SOC UI: </a:t>
            </a:r>
            <a:r>
              <a:rPr sz="1150">
                <a:solidFill>
                  <a:srgbClr val="1E293B"/>
                </a:solidFill>
              </a:rPr>
              <a:t>Modern Responsive Frontend, Vanilla JS, Chart.js 4.4, D3.js 7.0, Inter Font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284C7"/>
                </a:solidFill>
              </a:rPr>
              <a:t>• Real-Time Protocols: </a:t>
            </a:r>
            <a:r>
              <a:rPr sz="1150">
                <a:solidFill>
                  <a:srgbClr val="1E293B"/>
                </a:solidFill>
              </a:rPr>
              <a:t>Dual WebSockets (/ws/live for telemetry, /ws/alerts for incident push)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0284C7"/>
                </a:solidFill>
              </a:rPr>
              <a:t>• Threat Intelligence: </a:t>
            </a:r>
            <a:r>
              <a:rPr sz="1150">
                <a:solidFill>
                  <a:srgbClr val="1E293B"/>
                </a:solidFill>
              </a:rPr>
              <a:t>MITRE ATT&amp;CK Mapping (Recon, Discovery, C2, Exfil), VirusTotal Heuristics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08760"/>
            <a:ext cx="5349240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2C57"/>
                </a:solidFill>
              </a:defRPr>
            </a:pPr>
            <a:r>
              <a:t>End-to-End Pipeline &amp; Methodology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</a:rPr>
              <a:t>▶ Step 1: Passive Diode Ingestion
</a:t>
            </a:r>
            <a:r>
              <a:rPr sz="1100">
                <a:solidFill>
                  <a:srgbClr val="64748B"/>
                </a:solidFill>
              </a:rPr>
              <a:t>   Raw network packets captured via hardware tap with physical TX pins disconnected; 100% one-way ingress.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</a:rPr>
              <a:t>▶ Step 2: Normalization &amp; Aggregation
</a:t>
            </a:r>
            <a:r>
              <a:rPr sz="1100">
                <a:solidFill>
                  <a:srgbClr val="64748B"/>
                </a:solidFill>
              </a:rPr>
              <a:t>   Asymmetric IP flows grouped by (Src IP, Dst IP, Port, Proto); statistical feature vectors generated.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</a:rPr>
              <a:t>▶ Step 3: Dual-Stage Detection
</a:t>
            </a:r>
            <a:r>
              <a:rPr sz="1100">
                <a:solidFill>
                  <a:srgbClr val="64748B"/>
                </a:solidFill>
              </a:rPr>
              <a:t>   6 Rule Detectors (C2, DDoS, Recon, Exfil, DNS, Auth) execute in parallel with HistGradientBoosting ML model.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</a:rPr>
              <a:t>▶ Step 4: Risk Scoring &amp; XAI
</a:t>
            </a:r>
            <a:r>
              <a:rPr sz="1100">
                <a:solidFill>
                  <a:srgbClr val="64748B"/>
                </a:solidFill>
              </a:rPr>
              <a:t>   Composite Risk Score (0-100) calculated with transparent SHAP-style feature contributions.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</a:rPr>
              <a:t>▶ Step 5: DTMC Attack Trajectory
</a:t>
            </a:r>
            <a:r>
              <a:rPr sz="1100">
                <a:solidFill>
                  <a:srgbClr val="64748B"/>
                </a:solidFill>
              </a:rPr>
              <a:t>   Discrete-Time Markov Chain maps attack progression and computes transition probabilities to next state.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E293B"/>
                </a:solidFill>
              </a:rPr>
              <a:t>▶ Step 6: Analyst SOC Command Center
</a:t>
            </a:r>
            <a:r>
              <a:rPr sz="1100">
                <a:solidFill>
                  <a:srgbClr val="64748B"/>
                </a:solidFill>
              </a:rPr>
              <a:t>   Broadcasts events to live SOC console with interactive D3 network graphs and non-intrusive containment playbooks.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CODEZILLA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2C57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B2"/>
                </a:solidFill>
              </a:defRPr>
            </a:pPr>
            <a:r>
              <a:t>❖ Technical Feasibility, Challenges &amp; Mitigation Strategies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2C57"/>
                </a:solidFill>
              </a:defRPr>
            </a:pPr>
            <a:r>
              <a:t>Analysis of Feasibility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0B981"/>
                </a:solidFill>
              </a:rPr>
              <a:t>✓ Working Production Prototype: </a:t>
            </a:r>
            <a:r>
              <a:rPr sz="1150">
                <a:solidFill>
                  <a:srgbClr val="1E293B"/>
                </a:solidFill>
              </a:rPr>
              <a:t>Already fully implemented, benchmarked, and verified end-to-end with 34 active FastAPI endpoints and sub-10ms inference latency.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0B981"/>
                </a:solidFill>
              </a:rPr>
              <a:t>✓ Hardware Agnostic Deployment: </a:t>
            </a:r>
            <a:r>
              <a:rPr sz="1150">
                <a:solidFill>
                  <a:srgbClr val="1E293B"/>
                </a:solidFill>
              </a:rPr>
              <a:t>Runs on standard COTS Linux/Windows servers, industrial ruggedized PCs, or tactical air-gapped data diode appliances.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0B981"/>
                </a:solidFill>
              </a:rPr>
              <a:t>✓ Zero Operational Overhead: </a:t>
            </a:r>
            <a:r>
              <a:rPr sz="1150">
                <a:solidFill>
                  <a:srgbClr val="1E293B"/>
                </a:solidFill>
              </a:rPr>
              <a:t>Requires zero endpoint agent installation, zero TLS private key sharing, and zero modifications to monitored enterprise network topology.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0B981"/>
                </a:solidFill>
              </a:rPr>
              <a:t>✓ Resource Efficiency: </a:t>
            </a:r>
            <a:r>
              <a:rPr sz="1150">
                <a:solidFill>
                  <a:srgbClr val="1E293B"/>
                </a:solidFill>
              </a:rPr>
              <a:t>HistGradientBoosting classifier and statistical aggregators consume &lt;150MB RAM and minimal CPU, easily handling &gt;25,000 flows/sec.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0B981"/>
                </a:solidFill>
              </a:rPr>
              <a:t>✓ Regulatory Compliance: </a:t>
            </a:r>
            <a:r>
              <a:rPr sz="1150">
                <a:solidFill>
                  <a:srgbClr val="1E293B"/>
                </a:solidFill>
              </a:rPr>
              <a:t>Full compliance with CERT-In, NTRO guidelines, ISO 27001, and Indian Digital Personal Data Protection (DPDP) 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08760"/>
            <a:ext cx="5349240" cy="4709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2C57"/>
                </a:solidFill>
              </a:defRPr>
            </a:pPr>
            <a:r>
              <a:t>Challenges &amp; Robust Mitigation Strategies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D97706"/>
                </a:solidFill>
              </a:rPr>
              <a:t>⚠ Challenge: Asymmetric Flow State
</a:t>
            </a:r>
            <a:r>
              <a:rPr sz="1100">
                <a:solidFill>
                  <a:srgbClr val="64748B"/>
                </a:solidFill>
              </a:rPr>
              <a:t>   • Risk: No reverse ACK/FIN packet in unidirectional taps.
</a:t>
            </a:r>
            <a:r>
              <a:rPr b="1" sz="1100">
                <a:solidFill>
                  <a:srgbClr val="1E293B"/>
                </a:solidFill>
              </a:rPr>
              <a:t>   ✔ Solution: Mitigated via sliding-window timeout aggregation and statistical TCP sequence analysis.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D97706"/>
                </a:solidFill>
              </a:rPr>
              <a:t>⚠ Challenge: Encrypted C2 / TLS 1.3
</a:t>
            </a:r>
            <a:r>
              <a:rPr sz="1100">
                <a:solidFill>
                  <a:srgbClr val="64748B"/>
                </a:solidFill>
              </a:rPr>
              <a:t>   • Risk: Payload cannot be decrypted under privacy laws.
</a:t>
            </a:r>
            <a:r>
              <a:rPr b="1" sz="1100">
                <a:solidFill>
                  <a:srgbClr val="1E293B"/>
                </a:solidFill>
              </a:rPr>
              <a:t>   ✔ Solution: Mitigated via metadata analytics: JA3/JA4 fingerprinting, Shannon Byte Entropy, and IAT variance.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D97706"/>
                </a:solidFill>
              </a:rPr>
              <a:t>⚠ Challenge: High Traffic Volume
</a:t>
            </a:r>
            <a:r>
              <a:rPr sz="1100">
                <a:solidFill>
                  <a:srgbClr val="64748B"/>
                </a:solidFill>
              </a:rPr>
              <a:t>   • Risk: Risk of buffer overflows during massive DDoS attacks.
</a:t>
            </a:r>
            <a:r>
              <a:rPr b="1" sz="1100">
                <a:solidFill>
                  <a:srgbClr val="1E293B"/>
                </a:solidFill>
              </a:rPr>
              <a:t>   ✔ Solution: Mitigated by non-blocking asynchronous Python coroutines and selective client telemetry ring-buffering.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D97706"/>
                </a:solidFill>
              </a:rPr>
              <a:t>⚠ Challenge: Concept Drift in Attacks
</a:t>
            </a:r>
            <a:r>
              <a:rPr sz="1100">
                <a:solidFill>
                  <a:srgbClr val="64748B"/>
                </a:solidFill>
              </a:rPr>
              <a:t>   • Risk: Attackers altering beacon jitter and exfil rates.
</a:t>
            </a:r>
            <a:r>
              <a:rPr b="1" sz="1100">
                <a:solidFill>
                  <a:srgbClr val="1E293B"/>
                </a:solidFill>
              </a:rPr>
              <a:t>   ✔ Solution: Mitigated through dual-engine consensus (Rule + ML) and 5-minute online baseline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CODEZILLA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2C57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B2"/>
                </a:solidFill>
              </a:defRPr>
            </a:pPr>
            <a:r>
              <a:t>❖ National Security Impact, Economic Advantages &amp; Real-World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2240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02C57"/>
                </a:solidFill>
              </a:defRPr>
            </a:pPr>
            <a:r>
              <a:t>🛡️ Impact on Target Audience &amp; Defense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Intelligence Agencies (NTRO/RAW):</a:t>
            </a:r>
            <a:r>
              <a:rPr sz="1050">
                <a:solidFill>
                  <a:srgbClr val="64748B"/>
                </a:solidFill>
              </a:rPr>
              <a:t> Total stealth monitoring of foreign egress traffic without exposing tap presence.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National Defense &amp; Armed Forces:</a:t>
            </a:r>
            <a:r>
              <a:rPr sz="1050">
                <a:solidFill>
                  <a:srgbClr val="64748B"/>
                </a:solidFill>
              </a:rPr>
              <a:t> Air-gapped command and control network protection against advanced persistent threats (APTs).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Critical Infrastructure (Power/Nuclear/Rail):</a:t>
            </a:r>
            <a:r>
              <a:rPr sz="1050">
                <a:solidFill>
                  <a:srgbClr val="64748B"/>
                </a:solidFill>
              </a:rPr>
              <a:t> Passive telemetry monitoring preventing catastrophic industrial cyber-sabotage.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08760"/>
            <a:ext cx="5120640" cy="2240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02C57"/>
                </a:solidFill>
              </a:defRPr>
            </a:pPr>
            <a:r>
              <a:t>💰 Economic &amp; Operational Benefits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Eliminates Expensive Appliance Lock-In:</a:t>
            </a:r>
            <a:r>
              <a:rPr sz="1050">
                <a:solidFill>
                  <a:srgbClr val="64748B"/>
                </a:solidFill>
              </a:rPr>
              <a:t> Deploys on open-source stack and standard commodity servers, saving crores in license fees.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Reduces SOC Analyst Fatigue by 70%:</a:t>
            </a:r>
            <a:r>
              <a:rPr sz="1050">
                <a:solidFill>
                  <a:srgbClr val="64748B"/>
                </a:solidFill>
              </a:rPr>
              <a:t> Correlated incidents and XAI explainability reduce false positive triage time from hours to seconds.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Zero Downtime Deployment:</a:t>
            </a:r>
            <a:r>
              <a:rPr sz="1050">
                <a:solidFill>
                  <a:srgbClr val="64748B"/>
                </a:solidFill>
              </a:rPr>
              <a:t> 100% passive optical tap tap requires zero network interruption or scheduled maintenance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40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02C57"/>
                </a:solidFill>
              </a:defRPr>
            </a:pPr>
            <a:r>
              <a:t>🌐 Social &amp; Legal / Privacy Value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Strict Privacy Compliance:</a:t>
            </a:r>
            <a:r>
              <a:rPr sz="1050">
                <a:solidFill>
                  <a:srgbClr val="64748B"/>
                </a:solidFill>
              </a:rPr>
              <a:t> Analyzes packet metadata only; zero personal data decryption, adhering to DPDP Act 2023.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Safeguards National Sovereignty:</a:t>
            </a:r>
            <a:r>
              <a:rPr sz="1050">
                <a:solidFill>
                  <a:srgbClr val="64748B"/>
                </a:solidFill>
              </a:rPr>
              <a:t> Protects public utility grids, banking infrastructure, and government data centers.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Empowers Indigenous Cybersecurity:</a:t>
            </a:r>
            <a:r>
              <a:rPr sz="1050">
                <a:solidFill>
                  <a:srgbClr val="64748B"/>
                </a:solidFill>
              </a:rPr>
              <a:t> Built specifically under Make-in-India / Atmanirbhar Bharat vision for strategic cyber defense.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931920"/>
            <a:ext cx="5120640" cy="2240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02C57"/>
                </a:solidFill>
              </a:defRPr>
            </a:pPr>
            <a:r>
              <a:t>🚀 Scalability &amp; Future Roadmap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Multi-Sensor Distributed Architecture:</a:t>
            </a:r>
            <a:r>
              <a:rPr sz="1050">
                <a:solidFill>
                  <a:srgbClr val="64748B"/>
                </a:solidFill>
              </a:rPr>
              <a:t> Scale from localized Wi-Fi taps to 100Gbps cross-country backbones.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Continuous Model Evolution:</a:t>
            </a:r>
            <a:r>
              <a:rPr sz="1050">
                <a:solidFill>
                  <a:srgbClr val="64748B"/>
                </a:solidFill>
              </a:rPr>
              <a:t> Seamlessly retrains HistGradientBoosting weights on newly observed threat variants.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293B"/>
                </a:solidFill>
              </a:rPr>
              <a:t>• Pre-Emptive Threat Interception:</a:t>
            </a:r>
            <a:r>
              <a:rPr sz="1050">
                <a:solidFill>
                  <a:srgbClr val="64748B"/>
                </a:solidFill>
              </a:rPr>
              <a:t> DTMC trajectory prediction identifies early reconnaissance before data exfiltration occurs.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